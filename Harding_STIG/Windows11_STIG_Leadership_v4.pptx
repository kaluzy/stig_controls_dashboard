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23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52" autoAdjust="0"/>
  </p:normalViewPr>
  <p:slideViewPr>
    <p:cSldViewPr snapToGrid="0" snapToObjects="1">
      <p:cViewPr varScale="1">
        <p:scale>
          <a:sx n="138" d="100"/>
          <a:sy n="138" d="100"/>
        </p:scale>
        <p:origin x="8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Findings</c:v>
                </c:pt>
              </c:strCache>
            </c:strRef>
          </c:tx>
          <c:spPr>
            <a:solidFill>
              <a:srgbClr val="1A2B5E"/>
            </a:solidFill>
            <a:effectLst/>
          </c:spPr>
          <c:invertIfNegative val="0"/>
          <c:dPt>
            <c:idx val="0"/>
            <c:invertIfNegative val="0"/>
            <c:bubble3D val="0"/>
            <c:spPr>
              <a:solidFill>
                <a:srgbClr val="1A2B5E"/>
              </a:solidFill>
              <a:effectLst/>
            </c:spPr>
            <c:extLst>
              <c:ext xmlns:c16="http://schemas.microsoft.com/office/drawing/2014/chart" uri="{C3380CC4-5D6E-409C-BE32-E72D297353CC}">
                <c16:uniqueId val="{00000001-CB78-4638-B7DA-DE3A06248717}"/>
              </c:ext>
            </c:extLst>
          </c:dPt>
          <c:dPt>
            <c:idx val="1"/>
            <c:invertIfNegative val="0"/>
            <c:bubble3D val="0"/>
            <c:spPr>
              <a:solidFill>
                <a:srgbClr val="0B7A8C"/>
              </a:solidFill>
              <a:effectLst/>
            </c:spPr>
            <c:extLst>
              <c:ext xmlns:c16="http://schemas.microsoft.com/office/drawing/2014/chart" uri="{C3380CC4-5D6E-409C-BE32-E72D297353CC}">
                <c16:uniqueId val="{00000003-CB78-4638-B7DA-DE3A06248717}"/>
              </c:ext>
            </c:extLst>
          </c:dPt>
          <c:dPt>
            <c:idx val="2"/>
            <c:invertIfNegative val="0"/>
            <c:bubble3D val="0"/>
            <c:spPr>
              <a:solidFill>
                <a:srgbClr val="B86E00"/>
              </a:solidFill>
              <a:effectLst/>
            </c:spPr>
            <c:extLst>
              <c:ext xmlns:c16="http://schemas.microsoft.com/office/drawing/2014/chart" uri="{C3380CC4-5D6E-409C-BE32-E72D297353CC}">
                <c16:uniqueId val="{00000005-CB78-4638-B7DA-DE3A06248717}"/>
              </c:ext>
            </c:extLst>
          </c:dPt>
          <c:dPt>
            <c:idx val="3"/>
            <c:invertIfNegative val="0"/>
            <c:bubble3D val="0"/>
            <c:spPr>
              <a:solidFill>
                <a:srgbClr val="9B2335"/>
              </a:solidFill>
              <a:effectLst/>
            </c:spPr>
            <c:extLst>
              <c:ext xmlns:c16="http://schemas.microsoft.com/office/drawing/2014/chart" uri="{C3380CC4-5D6E-409C-BE32-E72D297353CC}">
                <c16:uniqueId val="{00000007-CB78-4638-B7DA-DE3A06248717}"/>
              </c:ext>
            </c:extLst>
          </c:dPt>
          <c:dPt>
            <c:idx val="4"/>
            <c:invertIfNegative val="0"/>
            <c:bubble3D val="0"/>
            <c:spPr>
              <a:solidFill>
                <a:srgbClr val="8A96A8"/>
              </a:solidFill>
              <a:effectLst/>
            </c:spPr>
            <c:extLst>
              <c:ext xmlns:c16="http://schemas.microsoft.com/office/drawing/2014/chart" uri="{C3380CC4-5D6E-409C-BE32-E72D297353CC}">
                <c16:uniqueId val="{00000009-CB78-4638-B7DA-DE3A06248717}"/>
              </c:ext>
            </c:extLst>
          </c:dPt>
          <c:dLbls>
            <c:numFmt formatCode="#,##0" sourceLinked="0"/>
            <c:spPr>
              <a:noFill/>
              <a:ln>
                <a:noFill/>
              </a:ln>
              <a:effectLst/>
            </c:spPr>
            <c:txPr>
              <a:bodyPr/>
              <a:lstStyle/>
              <a:p>
                <a:pPr>
                  <a:defRPr sz="1200" b="1" i="0" u="none" strike="noStrike">
                    <a:solidFill>
                      <a:srgbClr val="1A20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Total Findings</c:v>
                </c:pt>
                <c:pt idx="1">
                  <c:v>Tier 1</c:v>
                </c:pt>
                <c:pt idx="2">
                  <c:v>Tier 2</c:v>
                </c:pt>
                <c:pt idx="3">
                  <c:v>Tier 3</c:v>
                </c:pt>
                <c:pt idx="4">
                  <c:v>Out of Scope</c:v>
                </c:pt>
              </c:strCache>
            </c:strRef>
          </c:cat>
          <c:val>
            <c:numRef>
              <c:f>Sheet1!$B$2:$B$6</c:f>
              <c:numCache>
                <c:formatCode>General</c:formatCode>
                <c:ptCount val="5"/>
                <c:pt idx="0">
                  <c:v>160</c:v>
                </c:pt>
                <c:pt idx="1">
                  <c:v>11</c:v>
                </c:pt>
                <c:pt idx="2">
                  <c:v>16</c:v>
                </c:pt>
                <c:pt idx="3">
                  <c:v>8</c:v>
                </c:pt>
                <c:pt idx="4">
                  <c:v>125</c:v>
                </c:pt>
              </c:numCache>
            </c:numRef>
          </c:val>
          <c:extLst>
            <c:ext xmlns:c16="http://schemas.microsoft.com/office/drawing/2014/chart" uri="{C3380CC4-5D6E-409C-BE32-E72D297353CC}">
              <c16:uniqueId val="{0000000A-CB78-4638-B7DA-DE3A0624871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A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A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943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Thank you for making time.
This presentation covers our structured approach to hardening Windows 11 25H2 endpoints in our healthcare environment using DISA STIG guidance.
Our goal is straightforward: improve endpoint security without disrupting the tools your teams and our users depend on every day.
We will walk through the baseline compliance position, the testing we have completed, our tiered model, and where we need your alignment to move forward.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things we are trying to accomplish with this review.
First, understand what the STIG scan is actually telling us. A scan of 160 findings sounds alarming, but not every finding carries equal risk, and not every finding belongs to one team.
Second, pick the controls that matter most and can be applied safely.
Third, protect operational continuity. Help desk tools, remote access, and user workflows must keep working.
Fourth, agree on ownership now, before deployment. Changes to authentication belong to Infrastructure. Changes to network protocols belong to Network. Without that agreement, the rollout cannot succeed.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most recent SCAP scan ran in January 2026.
Current baseline compliance is approximately 36 to 42 percent depending on the scan profile used.
The scan returned roughly 160 findings in total.
Of those, 35 have been selected for this project. The remaining findings either belong to other teams — Network, Infrastructure, or Security — or require cross-team decisions before any action can be taken. The 35 scoped controls come from all three tiers but are the safest, highest-value subset to pilot first.
The key message here is that raw scan output alone is not a deployment plan. This project exists to make it structured, safe, and actionable.
Replace the placeholder on the right with your actual SCAP summary screenshot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how the 160 total findings break down by category.
Tier 1 contains 11 controls — these are low impact, high security value, and ready to deploy.
Tier 2 contains 48 controls — these carry moderate operational risk and are being validated in structured batches.
Tier 3 contains 12 deferred controls — these have been assessed as too risky for this phase without cross-team agreement.
The remaining approximately 89 findings belong to other teams — Network, Infrastructure, or Security — or require broader organisational decisions.
The point is simple: applying all 160 at once is not a strategy. This breakdown 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STIG control in our scope has been placed into one of three tiers based on its operational risk.
Tier 1 — 11 controls. Zero to minimal impact on users or support tools. High security value. Already validated and ready to deploy.
Tier 2 — 48 controls. Moderate operational risk. Being tested in controlled batches before any wider deployment.
Tier 3 — 12 controls. These carry higher operational risk and require cross-team agreement. They have been formally deferred with documented accepted risk.
Five specific items are explicitly excluded from this project entirely: User Rights lockdown, disabling Secondary Logon, AppLocker strict allowlisting, SMB Packet Signing, and Hardened UNC Paths. Each of these has the potential to disrupt IT operations and cannot be applied without broad cross-team coordination.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both approaches side by side on test devices.
Device A had all STIG recommendations applied. Compliance jumped to 82 percent. But the device became unstable. Remote access tools were impacted. IT support workflows broke. That device is not suitable for production deployment regardless of its compliance score.
Device B had only 35 carefully selected controls applied. Compliance sits at 42 to 45 percent — lower, but every operational function remained intact. That device is ready for a controlled pilot.
This is the core argument for a tiered approach. A lower compliance number on a stable, usable device is more valuable than a high number on something your IT team cannot support.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a concrete example to make this tangible.
STIG control WN11-CC-000326 requires PowerShell Script Block Logging to be enabled.
What does that mean in practice? Every time PowerShell runs any command on a device — whether by a user, an administrator, or an attacker — Windows writes a log entry with the full command text. If something malicious runs on a device, we can see exactly what it was and when.
The user impact is zero. This is a background Windows setting. No pop-ups, no prompts, no change to how the device looks or behaves.
We apply it with a single registry key, pushed through Group Policy.
This is exactly the type of Tier 1 control we want in production as soon as we have approval — high security value, zero disruption.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control in this project goes through the same eight steps before it is considered approved for deployment.
We start by reading the fix text. Then we validate against Microsoft's own documentation to avoid conflicts. We assess what the change might affect operationally.
We apply the change in a test environment, then validate that it worked correctly. We run a smoke test checklist — login, remote access, support tools, stability.
We document everything: before and after screenshots, GPO results, registry states, and notes.
And critically, before anything goes to production, we have a tested rollback procedure documented and ready.
Important note at the bottom: Domain Group Policy will override any local changes. This is why cross-team coordination is essential before we push to production.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applying each control, we capture evidence that it worked and that nothing was disrupted.
On the left: the before state. The registry key or policy is missing or unset, the STIG fails.
On the right: the after state. The setting is applied, the STIG passes, and the device is operating normally.
We also run through a structured checklist: confirm the registry key via GPO, re-run the STIG scan to confirm it passes, verify remote access and help desk tools, and sign off the smoke test.
All evidence is stored in our tracking tool. If anyone asks what the device looked like before, or who approved the change, that information is recorded.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manage all decisions, evidence, and progress across 35 controls, we built a small internal workflow tool.
It lets us classify controls by tier, tag owners, record Approve/Conditional/Reject decisions with rationale, store before and after screenshots, log smoke test results, and document rollback procedures.
Everything is in one place. If anyone asks who approved a control, what the device looked like before, or how to reverse a change, the answer is in the tool.
If you are asked about the tool: it was created internally with Copilot assistance for workflow automation. All security logic, control decisions, and validations were reviewed and confirmed manually by the team. Copilot helped with the development work, not the security judgements.
Replace the three placeholder boxes with screenshots from your actual tool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STIG hardening touches four distinct areas of the environment, and each has a clear owner.
End User Computing owns endpoint configuration — audit settings, local policies, screen lock, PowerShell settings.
Infrastructure owns authentication policies — password rules, logon settings, Credential Guard.
Network owns network protocol controls — SMB versions, IPv6 settings, unused protocols.
Security owns audit alignment — audit policies, compliance reporting, log retention.
What we need from this meeting is confirmation of these assignments. Without clear ownership, changes cannot be deployed safely, and accountability gaps will create risk rather than reduce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leadership approval, this is the deployment sequence.
Phase 1: Final approvals on Tier 1 controls from the relevant owners.
Phase 2: Deploy to a small pilot group — five to ten devices representing a cross-section of roles.
Phase 3: Structured QA validation. Remote access tested, help desk tools tested, user workflows confirmed, audit logs reviewed.
Phase 4: Ring-based rollout — IT staff first, then broader groups.
Phase 5: Full production deployment via Group Policy or Intune.
Phase 6: Post-deployment monitoring active, with rollback procedure documented and ready.
Nothing advances to the next phase until the previous one is confirmed clean.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captures the core argument of the whole presentation in one visual.
If we apply everything — the Security Only approach — we get a high compliance score, but we risk breaking remote access, IT support tools, and user workflows. That instability creates its own operational risk.
If we apply nothing — the Stability Only approach — operations run smoothly today, but security gaps remain open, audit findings stay on the books, and regulatory exposure persists.
The Balanced Tiered Model is the answer. High-value controls applied. Stability preserved. Operations unaffected. Leadership aligned. This is what we have built.
The goal was never to chase a compliance number. The goal was to build a security improvement that actually holds up in a production healthcare environment.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central message of this presentation is that security must not break daily operations. A compliance number is only meaningful if the device behind it is stable and supportable.
Tier 1 controls — 11 controls — are validated and ready for a pilot deployment as soon as we have approval.
Tier 2 — 48 controls — are progressing well through structured batch testing.
Tier 3 — 12 controls — have been formally deferred with documented accepted risk. That documentation is available for review.
What we need from this group today:
One — confirm ownership assignments.
Two — approve Tier 1 for the pilot.
Three — align on the Tier 2 testing timeline.
Four — formally accept or escalate Tier 3 deferrals.
Five — help us identify the pilot group and a target date.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516636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Shape 1"/>
          <p:cNvSpPr/>
          <p:nvPr/>
        </p:nvSpPr>
        <p:spPr>
          <a:xfrm>
            <a:off x="5330952" y="0"/>
            <a:ext cx="3813048" cy="5143500"/>
          </a:xfrm>
          <a:prstGeom prst="rect">
            <a:avLst/>
          </a:prstGeom>
          <a:solidFill>
            <a:srgbClr val="2A3F7E"/>
          </a:solidFill>
          <a:ln w="12700">
            <a:solidFill>
              <a:srgbClr val="2A3F7E"/>
            </a:solidFill>
            <a:prstDash val="solid"/>
          </a:ln>
        </p:spPr>
        <p:txBody>
          <a:bodyPr/>
          <a:lstStyle/>
          <a:p>
            <a:endParaRPr lang="en-US"/>
          </a:p>
        </p:txBody>
      </p:sp>
      <p:sp>
        <p:nvSpPr>
          <p:cNvPr id="4" name="Text 2"/>
          <p:cNvSpPr/>
          <p:nvPr/>
        </p:nvSpPr>
        <p:spPr>
          <a:xfrm>
            <a:off x="457200" y="1005840"/>
            <a:ext cx="4572000" cy="1645920"/>
          </a:xfrm>
          <a:prstGeom prst="rect">
            <a:avLst/>
          </a:prstGeom>
          <a:noFill/>
          <a:ln/>
        </p:spPr>
        <p:txBody>
          <a:bodyPr wrap="square"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Windows 11 25H2</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Hardening Strategy</a:t>
            </a:r>
            <a:endParaRPr lang="en-US" sz="3600" dirty="0"/>
          </a:p>
        </p:txBody>
      </p:sp>
      <p:sp>
        <p:nvSpPr>
          <p:cNvPr id="5" name="Text 3"/>
          <p:cNvSpPr/>
          <p:nvPr/>
        </p:nvSpPr>
        <p:spPr>
          <a:xfrm>
            <a:off x="457200" y="2697480"/>
            <a:ext cx="4572000" cy="457200"/>
          </a:xfrm>
          <a:prstGeom prst="rect">
            <a:avLst/>
          </a:prstGeom>
          <a:noFill/>
          <a:ln/>
        </p:spPr>
        <p:txBody>
          <a:bodyPr wrap="square" rtlCol="0" anchor="ctr"/>
          <a:lstStyle/>
          <a:p>
            <a:pPr marL="0" indent="0" algn="l">
              <a:buNone/>
            </a:pPr>
            <a:r>
              <a:rPr lang="en-US" sz="1700" dirty="0">
                <a:solidFill>
                  <a:srgbClr val="12A3BC"/>
                </a:solidFill>
                <a:latin typeface="Calibri" pitchFamily="34" charset="0"/>
                <a:ea typeface="Calibri" pitchFamily="34" charset="-122"/>
                <a:cs typeface="Calibri" pitchFamily="34" charset="-120"/>
              </a:rPr>
              <a:t>Structured, Validated, and Operationally Safe</a:t>
            </a:r>
            <a:endParaRPr lang="en-US" sz="1700" dirty="0"/>
          </a:p>
        </p:txBody>
      </p:sp>
      <p:sp>
        <p:nvSpPr>
          <p:cNvPr id="6" name="Text 4"/>
          <p:cNvSpPr/>
          <p:nvPr/>
        </p:nvSpPr>
        <p:spPr>
          <a:xfrm>
            <a:off x="457200" y="3246120"/>
            <a:ext cx="4572000" cy="320040"/>
          </a:xfrm>
          <a:prstGeom prst="rect">
            <a:avLst/>
          </a:prstGeom>
          <a:noFill/>
          <a:ln/>
        </p:spPr>
        <p:txBody>
          <a:bodyPr wrap="square" rtlCol="0" anchor="ctr"/>
          <a:lstStyle/>
          <a:p>
            <a:pPr marL="0" indent="0" algn="l">
              <a:buNone/>
            </a:pPr>
            <a:r>
              <a:rPr lang="en-US" sz="1200" dirty="0">
                <a:solidFill>
                  <a:srgbClr val="9AB8D8"/>
                </a:solidFill>
                <a:latin typeface="Calibri" pitchFamily="34" charset="0"/>
                <a:ea typeface="Calibri" pitchFamily="34" charset="-122"/>
                <a:cs typeface="Calibri" pitchFamily="34" charset="-120"/>
              </a:rPr>
              <a:t>Secure  ·  Usable  ·  Supportable</a:t>
            </a:r>
            <a:endParaRPr lang="en-US" sz="1200" dirty="0"/>
          </a:p>
        </p:txBody>
      </p:sp>
      <p:sp>
        <p:nvSpPr>
          <p:cNvPr id="7" name="Shape 5"/>
          <p:cNvSpPr/>
          <p:nvPr/>
        </p:nvSpPr>
        <p:spPr>
          <a:xfrm>
            <a:off x="5577840" y="822960"/>
            <a:ext cx="3337560" cy="1078992"/>
          </a:xfrm>
          <a:prstGeom prst="rect">
            <a:avLst/>
          </a:prstGeom>
          <a:solidFill>
            <a:srgbClr val="FFFFFF">
              <a:alpha val="10000"/>
            </a:srgbClr>
          </a:solidFill>
          <a:ln w="19050">
            <a:solidFill>
              <a:srgbClr val="0B7A8C"/>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5687568" y="914400"/>
            <a:ext cx="3108960" cy="237744"/>
          </a:xfrm>
          <a:prstGeom prst="rect">
            <a:avLst/>
          </a:prstGeom>
          <a:noFill/>
          <a:ln/>
        </p:spPr>
        <p:txBody>
          <a:bodyPr wrap="square" lIns="0" tIns="0" rIns="0" bIns="0" rtlCol="0" anchor="ctr"/>
          <a:lstStyle/>
          <a:p>
            <a:pPr marL="0" indent="0" algn="l">
              <a:buNone/>
            </a:pPr>
            <a:r>
              <a:rPr lang="en-US" sz="1000" b="1" dirty="0">
                <a:solidFill>
                  <a:srgbClr val="12A3BC"/>
                </a:solidFill>
                <a:latin typeface="Calibri" pitchFamily="34" charset="0"/>
                <a:ea typeface="Calibri" pitchFamily="34" charset="-122"/>
                <a:cs typeface="Calibri" pitchFamily="34" charset="-120"/>
              </a:rPr>
              <a:t>Platform</a:t>
            </a:r>
            <a:endParaRPr lang="en-US" sz="1000" dirty="0"/>
          </a:p>
        </p:txBody>
      </p:sp>
      <p:sp>
        <p:nvSpPr>
          <p:cNvPr id="9" name="Text 7"/>
          <p:cNvSpPr/>
          <p:nvPr/>
        </p:nvSpPr>
        <p:spPr>
          <a:xfrm>
            <a:off x="5687568" y="1207008"/>
            <a:ext cx="3108960" cy="54864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Windows 11 25H2</a:t>
            </a:r>
            <a:endParaRPr lang="en-US" sz="1500" dirty="0"/>
          </a:p>
        </p:txBody>
      </p:sp>
      <p:sp>
        <p:nvSpPr>
          <p:cNvPr id="10" name="Shape 8"/>
          <p:cNvSpPr/>
          <p:nvPr/>
        </p:nvSpPr>
        <p:spPr>
          <a:xfrm>
            <a:off x="5577840" y="2194560"/>
            <a:ext cx="3337560" cy="1078992"/>
          </a:xfrm>
          <a:prstGeom prst="rect">
            <a:avLst/>
          </a:prstGeom>
          <a:solidFill>
            <a:srgbClr val="FFFFFF">
              <a:alpha val="10000"/>
            </a:srgbClr>
          </a:solidFill>
          <a:ln w="19050">
            <a:solidFill>
              <a:srgbClr val="0B7A8C"/>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5687568" y="2286000"/>
            <a:ext cx="3108960" cy="237744"/>
          </a:xfrm>
          <a:prstGeom prst="rect">
            <a:avLst/>
          </a:prstGeom>
          <a:noFill/>
          <a:ln/>
        </p:spPr>
        <p:txBody>
          <a:bodyPr wrap="square" lIns="0" tIns="0" rIns="0" bIns="0" rtlCol="0" anchor="ctr"/>
          <a:lstStyle/>
          <a:p>
            <a:pPr marL="0" indent="0" algn="l">
              <a:buNone/>
            </a:pPr>
            <a:r>
              <a:rPr lang="en-US" sz="1000" b="1" dirty="0">
                <a:solidFill>
                  <a:srgbClr val="12A3BC"/>
                </a:solidFill>
                <a:latin typeface="Calibri" pitchFamily="34" charset="0"/>
                <a:ea typeface="Calibri" pitchFamily="34" charset="-122"/>
                <a:cs typeface="Calibri" pitchFamily="34" charset="-120"/>
              </a:rPr>
              <a:t>Environment</a:t>
            </a:r>
            <a:endParaRPr lang="en-US" sz="1000" dirty="0"/>
          </a:p>
        </p:txBody>
      </p:sp>
      <p:sp>
        <p:nvSpPr>
          <p:cNvPr id="12" name="Text 10"/>
          <p:cNvSpPr/>
          <p:nvPr/>
        </p:nvSpPr>
        <p:spPr>
          <a:xfrm>
            <a:off x="5687568" y="2578608"/>
            <a:ext cx="3108960" cy="54864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Healthcare</a:t>
            </a:r>
            <a:endParaRPr lang="en-US" sz="1500" dirty="0"/>
          </a:p>
        </p:txBody>
      </p:sp>
      <p:sp>
        <p:nvSpPr>
          <p:cNvPr id="13" name="Shape 11"/>
          <p:cNvSpPr/>
          <p:nvPr/>
        </p:nvSpPr>
        <p:spPr>
          <a:xfrm>
            <a:off x="5577840" y="3566160"/>
            <a:ext cx="3337560" cy="1078992"/>
          </a:xfrm>
          <a:prstGeom prst="rect">
            <a:avLst/>
          </a:prstGeom>
          <a:solidFill>
            <a:srgbClr val="FFFFFF">
              <a:alpha val="10000"/>
            </a:srgbClr>
          </a:solidFill>
          <a:ln w="19050">
            <a:solidFill>
              <a:srgbClr val="0B7A8C"/>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5687568" y="3657600"/>
            <a:ext cx="3108960" cy="237744"/>
          </a:xfrm>
          <a:prstGeom prst="rect">
            <a:avLst/>
          </a:prstGeom>
          <a:noFill/>
          <a:ln/>
        </p:spPr>
        <p:txBody>
          <a:bodyPr wrap="square" lIns="0" tIns="0" rIns="0" bIns="0" rtlCol="0" anchor="ctr"/>
          <a:lstStyle/>
          <a:p>
            <a:pPr marL="0" indent="0" algn="l">
              <a:buNone/>
            </a:pPr>
            <a:r>
              <a:rPr lang="en-US" sz="1000" b="1" dirty="0">
                <a:solidFill>
                  <a:srgbClr val="12A3BC"/>
                </a:solidFill>
                <a:latin typeface="Calibri" pitchFamily="34" charset="0"/>
                <a:ea typeface="Calibri" pitchFamily="34" charset="-122"/>
                <a:cs typeface="Calibri" pitchFamily="34" charset="-120"/>
              </a:rPr>
              <a:t>Selected Controls</a:t>
            </a:r>
            <a:endParaRPr lang="en-US" sz="1000" dirty="0"/>
          </a:p>
        </p:txBody>
      </p:sp>
      <p:sp>
        <p:nvSpPr>
          <p:cNvPr id="15" name="Text 13"/>
          <p:cNvSpPr/>
          <p:nvPr/>
        </p:nvSpPr>
        <p:spPr>
          <a:xfrm>
            <a:off x="5687568" y="3950208"/>
            <a:ext cx="3108960" cy="54864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35 Controls Scoped</a:t>
            </a:r>
            <a:endParaRPr lang="en-US" sz="1500" dirty="0"/>
          </a:p>
        </p:txBody>
      </p:sp>
      <p:sp>
        <p:nvSpPr>
          <p:cNvPr id="16" name="Text 14"/>
          <p:cNvSpPr/>
          <p:nvPr/>
        </p:nvSpPr>
        <p:spPr>
          <a:xfrm>
            <a:off x="457200" y="4754880"/>
            <a:ext cx="4572000" cy="274320"/>
          </a:xfrm>
          <a:prstGeom prst="rect">
            <a:avLst/>
          </a:prstGeom>
          <a:noFill/>
          <a:ln/>
        </p:spPr>
        <p:txBody>
          <a:bodyPr wrap="square" lIns="0" tIns="0" rIns="0" bIns="0" rtlCol="0" anchor="ctr"/>
          <a:lstStyle/>
          <a:p>
            <a:pPr marL="0" indent="0" algn="l">
              <a:buNone/>
            </a:pPr>
            <a:r>
              <a:rPr lang="en-US" sz="900" dirty="0">
                <a:solidFill>
                  <a:srgbClr val="6888A8"/>
                </a:solidFill>
                <a:latin typeface="Calibri" pitchFamily="34" charset="0"/>
                <a:ea typeface="Calibri" pitchFamily="34" charset="-122"/>
                <a:cs typeface="Calibri" pitchFamily="34" charset="-120"/>
              </a:rPr>
              <a:t>IT Security  ·  Infrastructure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Objective of This Review</a:t>
            </a:r>
            <a:endParaRPr lang="en-US" sz="2800" dirty="0"/>
          </a:p>
        </p:txBody>
      </p:sp>
      <p:sp>
        <p:nvSpPr>
          <p:cNvPr id="4" name="Shape 2"/>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5" name="Shape 3"/>
          <p:cNvSpPr/>
          <p:nvPr/>
        </p:nvSpPr>
        <p:spPr>
          <a:xfrm>
            <a:off x="347472" y="1280160"/>
            <a:ext cx="4206240" cy="157276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47472" y="1280160"/>
            <a:ext cx="4206240" cy="73152"/>
          </a:xfrm>
          <a:prstGeom prst="rect">
            <a:avLst/>
          </a:prstGeom>
          <a:solidFill>
            <a:srgbClr val="0B7A8C"/>
          </a:solidFill>
          <a:ln w="12700">
            <a:solidFill>
              <a:srgbClr val="0B7A8C"/>
            </a:solidFill>
            <a:prstDash val="solid"/>
          </a:ln>
        </p:spPr>
        <p:txBody>
          <a:bodyPr/>
          <a:lstStyle/>
          <a:p>
            <a:endParaRPr lang="en-US"/>
          </a:p>
        </p:txBody>
      </p:sp>
      <p:sp>
        <p:nvSpPr>
          <p:cNvPr id="7" name="Text 5"/>
          <p:cNvSpPr/>
          <p:nvPr/>
        </p:nvSpPr>
        <p:spPr>
          <a:xfrm>
            <a:off x="484632" y="1389888"/>
            <a:ext cx="502920" cy="365760"/>
          </a:xfrm>
          <a:prstGeom prst="rect">
            <a:avLst/>
          </a:prstGeom>
          <a:noFill/>
          <a:ln/>
        </p:spPr>
        <p:txBody>
          <a:bodyPr wrap="square" lIns="0" tIns="0" rIns="0" bIns="0" rtlCol="0" anchor="ctr"/>
          <a:lstStyle/>
          <a:p>
            <a:pPr marL="0" indent="0" algn="l">
              <a:buNone/>
            </a:pPr>
            <a:r>
              <a:rPr lang="en-US" sz="2000" b="1" dirty="0">
                <a:solidFill>
                  <a:srgbClr val="0B7A8C"/>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1005840" y="1371600"/>
            <a:ext cx="3429000" cy="347472"/>
          </a:xfrm>
          <a:prstGeom prst="rect">
            <a:avLst/>
          </a:prstGeom>
          <a:noFill/>
          <a:ln/>
        </p:spPr>
        <p:txBody>
          <a:bodyPr wrap="square" lIns="0" tIns="0" rIns="0" bIns="0" rtlCol="0" anchor="ctr"/>
          <a:lstStyle/>
          <a:p>
            <a:pPr marL="0" indent="0" algn="l">
              <a:buNone/>
            </a:pPr>
            <a:r>
              <a:rPr lang="en-US" sz="1300" b="1" dirty="0">
                <a:solidFill>
                  <a:srgbClr val="1A2040"/>
                </a:solidFill>
                <a:latin typeface="Calibri" pitchFamily="34" charset="0"/>
                <a:ea typeface="Calibri" pitchFamily="34" charset="-122"/>
                <a:cs typeface="Calibri" pitchFamily="34" charset="-120"/>
              </a:rPr>
              <a:t>Review Windows 11 STIG Findings</a:t>
            </a:r>
            <a:endParaRPr lang="en-US" sz="1300" dirty="0"/>
          </a:p>
        </p:txBody>
      </p:sp>
      <p:sp>
        <p:nvSpPr>
          <p:cNvPr id="9" name="Text 7"/>
          <p:cNvSpPr/>
          <p:nvPr/>
        </p:nvSpPr>
        <p:spPr>
          <a:xfrm>
            <a:off x="512064" y="1828800"/>
            <a:ext cx="3913632" cy="914400"/>
          </a:xfrm>
          <a:prstGeom prst="rect">
            <a:avLst/>
          </a:prstGeom>
          <a:noFill/>
          <a:ln/>
        </p:spPr>
        <p:txBody>
          <a:bodyPr wrap="square" lIns="0" tIns="0" rIns="0" bIns="0" rtlCol="0" anchor="t"/>
          <a:lstStyle/>
          <a:p>
            <a:pPr marL="0" indent="0" algn="l">
              <a:buNone/>
            </a:pPr>
            <a:r>
              <a:rPr lang="en-US" sz="1150" dirty="0">
                <a:solidFill>
                  <a:srgbClr val="3A4A6B"/>
                </a:solidFill>
                <a:latin typeface="Calibri" pitchFamily="34" charset="0"/>
                <a:ea typeface="Calibri" pitchFamily="34" charset="-122"/>
                <a:cs typeface="Calibri" pitchFamily="34" charset="-120"/>
              </a:rPr>
              <a:t>Analyse the DISA STIG scan output for our Windows 11 25H2 environment and understand what each finding requires.</a:t>
            </a:r>
            <a:endParaRPr lang="en-US" sz="1150" dirty="0"/>
          </a:p>
        </p:txBody>
      </p:sp>
      <p:sp>
        <p:nvSpPr>
          <p:cNvPr id="10" name="Shape 8"/>
          <p:cNvSpPr/>
          <p:nvPr/>
        </p:nvSpPr>
        <p:spPr>
          <a:xfrm>
            <a:off x="4800600" y="1280160"/>
            <a:ext cx="4206240" cy="157276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4800600" y="1280160"/>
            <a:ext cx="4206240" cy="73152"/>
          </a:xfrm>
          <a:prstGeom prst="rect">
            <a:avLst/>
          </a:prstGeom>
          <a:solidFill>
            <a:srgbClr val="0B7A8C"/>
          </a:solidFill>
          <a:ln w="12700">
            <a:solidFill>
              <a:srgbClr val="0B7A8C"/>
            </a:solidFill>
            <a:prstDash val="solid"/>
          </a:ln>
        </p:spPr>
        <p:txBody>
          <a:bodyPr/>
          <a:lstStyle/>
          <a:p>
            <a:endParaRPr lang="en-US"/>
          </a:p>
        </p:txBody>
      </p:sp>
      <p:sp>
        <p:nvSpPr>
          <p:cNvPr id="12" name="Text 10"/>
          <p:cNvSpPr/>
          <p:nvPr/>
        </p:nvSpPr>
        <p:spPr>
          <a:xfrm>
            <a:off x="4937760" y="1389888"/>
            <a:ext cx="502920" cy="365760"/>
          </a:xfrm>
          <a:prstGeom prst="rect">
            <a:avLst/>
          </a:prstGeom>
          <a:noFill/>
          <a:ln/>
        </p:spPr>
        <p:txBody>
          <a:bodyPr wrap="square" lIns="0" tIns="0" rIns="0" bIns="0" rtlCol="0" anchor="ctr"/>
          <a:lstStyle/>
          <a:p>
            <a:pPr marL="0" indent="0" algn="l">
              <a:buNone/>
            </a:pPr>
            <a:r>
              <a:rPr lang="en-US" sz="2000" b="1" dirty="0">
                <a:solidFill>
                  <a:srgbClr val="0B7A8C"/>
                </a:solidFill>
                <a:latin typeface="Calibri" pitchFamily="34" charset="0"/>
                <a:ea typeface="Calibri" pitchFamily="34" charset="-122"/>
                <a:cs typeface="Calibri" pitchFamily="34" charset="-120"/>
              </a:rPr>
              <a:t>02</a:t>
            </a:r>
            <a:endParaRPr lang="en-US" sz="2000" dirty="0"/>
          </a:p>
        </p:txBody>
      </p:sp>
      <p:sp>
        <p:nvSpPr>
          <p:cNvPr id="13" name="Text 11"/>
          <p:cNvSpPr/>
          <p:nvPr/>
        </p:nvSpPr>
        <p:spPr>
          <a:xfrm>
            <a:off x="5458968" y="1371600"/>
            <a:ext cx="3429000" cy="347472"/>
          </a:xfrm>
          <a:prstGeom prst="rect">
            <a:avLst/>
          </a:prstGeom>
          <a:noFill/>
          <a:ln/>
        </p:spPr>
        <p:txBody>
          <a:bodyPr wrap="square" lIns="0" tIns="0" rIns="0" bIns="0" rtlCol="0" anchor="ctr"/>
          <a:lstStyle/>
          <a:p>
            <a:pPr marL="0" indent="0" algn="l">
              <a:buNone/>
            </a:pPr>
            <a:r>
              <a:rPr lang="en-US" sz="1300" b="1" dirty="0">
                <a:solidFill>
                  <a:srgbClr val="1A2040"/>
                </a:solidFill>
                <a:latin typeface="Calibri" pitchFamily="34" charset="0"/>
                <a:ea typeface="Calibri" pitchFamily="34" charset="-122"/>
                <a:cs typeface="Calibri" pitchFamily="34" charset="-120"/>
              </a:rPr>
              <a:t>Identify Safe, High-Value Controls</a:t>
            </a:r>
            <a:endParaRPr lang="en-US" sz="1300" dirty="0"/>
          </a:p>
        </p:txBody>
      </p:sp>
      <p:sp>
        <p:nvSpPr>
          <p:cNvPr id="14" name="Text 12"/>
          <p:cNvSpPr/>
          <p:nvPr/>
        </p:nvSpPr>
        <p:spPr>
          <a:xfrm>
            <a:off x="4965192" y="1828800"/>
            <a:ext cx="3913632" cy="914400"/>
          </a:xfrm>
          <a:prstGeom prst="rect">
            <a:avLst/>
          </a:prstGeom>
          <a:noFill/>
          <a:ln/>
        </p:spPr>
        <p:txBody>
          <a:bodyPr wrap="square" lIns="0" tIns="0" rIns="0" bIns="0" rtlCol="0" anchor="t"/>
          <a:lstStyle/>
          <a:p>
            <a:pPr marL="0" indent="0" algn="l">
              <a:buNone/>
            </a:pPr>
            <a:r>
              <a:rPr lang="en-US" sz="1150" dirty="0">
                <a:solidFill>
                  <a:srgbClr val="3A4A6B"/>
                </a:solidFill>
                <a:latin typeface="Calibri" pitchFamily="34" charset="0"/>
                <a:ea typeface="Calibri" pitchFamily="34" charset="-122"/>
                <a:cs typeface="Calibri" pitchFamily="34" charset="-120"/>
              </a:rPr>
              <a:t>Select the controls that deliver the greatest security improvement with the lowest operational risk.</a:t>
            </a:r>
            <a:endParaRPr lang="en-US" sz="1150" dirty="0"/>
          </a:p>
        </p:txBody>
      </p:sp>
      <p:sp>
        <p:nvSpPr>
          <p:cNvPr id="15" name="Shape 13"/>
          <p:cNvSpPr/>
          <p:nvPr/>
        </p:nvSpPr>
        <p:spPr>
          <a:xfrm>
            <a:off x="347472" y="3063240"/>
            <a:ext cx="4206240" cy="157276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347472" y="3063240"/>
            <a:ext cx="4206240" cy="73152"/>
          </a:xfrm>
          <a:prstGeom prst="rect">
            <a:avLst/>
          </a:prstGeom>
          <a:solidFill>
            <a:srgbClr val="0B7A8C"/>
          </a:solidFill>
          <a:ln w="12700">
            <a:solidFill>
              <a:srgbClr val="0B7A8C"/>
            </a:solidFill>
            <a:prstDash val="solid"/>
          </a:ln>
        </p:spPr>
        <p:txBody>
          <a:bodyPr/>
          <a:lstStyle/>
          <a:p>
            <a:endParaRPr lang="en-US"/>
          </a:p>
        </p:txBody>
      </p:sp>
      <p:sp>
        <p:nvSpPr>
          <p:cNvPr id="17" name="Text 15"/>
          <p:cNvSpPr/>
          <p:nvPr/>
        </p:nvSpPr>
        <p:spPr>
          <a:xfrm>
            <a:off x="484632" y="3172968"/>
            <a:ext cx="502920" cy="365760"/>
          </a:xfrm>
          <a:prstGeom prst="rect">
            <a:avLst/>
          </a:prstGeom>
          <a:noFill/>
          <a:ln/>
        </p:spPr>
        <p:txBody>
          <a:bodyPr wrap="square" lIns="0" tIns="0" rIns="0" bIns="0" rtlCol="0" anchor="ctr"/>
          <a:lstStyle/>
          <a:p>
            <a:pPr marL="0" indent="0" algn="l">
              <a:buNone/>
            </a:pPr>
            <a:r>
              <a:rPr lang="en-US" sz="2000" b="1" dirty="0">
                <a:solidFill>
                  <a:srgbClr val="0B7A8C"/>
                </a:solidFill>
                <a:latin typeface="Calibri" pitchFamily="34" charset="0"/>
                <a:ea typeface="Calibri" pitchFamily="34" charset="-122"/>
                <a:cs typeface="Calibri" pitchFamily="34" charset="-120"/>
              </a:rPr>
              <a:t>03</a:t>
            </a:r>
            <a:endParaRPr lang="en-US" sz="2000" dirty="0"/>
          </a:p>
        </p:txBody>
      </p:sp>
      <p:sp>
        <p:nvSpPr>
          <p:cNvPr id="18" name="Text 16"/>
          <p:cNvSpPr/>
          <p:nvPr/>
        </p:nvSpPr>
        <p:spPr>
          <a:xfrm>
            <a:off x="1005840" y="3154680"/>
            <a:ext cx="3429000" cy="347472"/>
          </a:xfrm>
          <a:prstGeom prst="rect">
            <a:avLst/>
          </a:prstGeom>
          <a:noFill/>
          <a:ln/>
        </p:spPr>
        <p:txBody>
          <a:bodyPr wrap="square" lIns="0" tIns="0" rIns="0" bIns="0" rtlCol="0" anchor="ctr"/>
          <a:lstStyle/>
          <a:p>
            <a:pPr marL="0" indent="0" algn="l">
              <a:buNone/>
            </a:pPr>
            <a:r>
              <a:rPr lang="en-US" sz="1300" b="1" dirty="0">
                <a:solidFill>
                  <a:srgbClr val="1A2040"/>
                </a:solidFill>
                <a:latin typeface="Calibri" pitchFamily="34" charset="0"/>
                <a:ea typeface="Calibri" pitchFamily="34" charset="-122"/>
                <a:cs typeface="Calibri" pitchFamily="34" charset="-120"/>
              </a:rPr>
              <a:t>Avoid Operational Disruption</a:t>
            </a:r>
            <a:endParaRPr lang="en-US" sz="1300" dirty="0"/>
          </a:p>
        </p:txBody>
      </p:sp>
      <p:sp>
        <p:nvSpPr>
          <p:cNvPr id="19" name="Text 17"/>
          <p:cNvSpPr/>
          <p:nvPr/>
        </p:nvSpPr>
        <p:spPr>
          <a:xfrm>
            <a:off x="512064" y="3611880"/>
            <a:ext cx="3913632" cy="914400"/>
          </a:xfrm>
          <a:prstGeom prst="rect">
            <a:avLst/>
          </a:prstGeom>
          <a:noFill/>
          <a:ln/>
        </p:spPr>
        <p:txBody>
          <a:bodyPr wrap="square" lIns="0" tIns="0" rIns="0" bIns="0" rtlCol="0" anchor="t"/>
          <a:lstStyle/>
          <a:p>
            <a:pPr marL="0" indent="0" algn="l">
              <a:buNone/>
            </a:pPr>
            <a:r>
              <a:rPr lang="en-US" sz="1150" dirty="0">
                <a:solidFill>
                  <a:srgbClr val="3A4A6B"/>
                </a:solidFill>
                <a:latin typeface="Calibri" pitchFamily="34" charset="0"/>
                <a:ea typeface="Calibri" pitchFamily="34" charset="-122"/>
                <a:cs typeface="Calibri" pitchFamily="34" charset="-120"/>
              </a:rPr>
              <a:t>Ensure that remote access, IT support tools, and user workflows remain fully functional throughout.</a:t>
            </a:r>
            <a:endParaRPr lang="en-US" sz="1150" dirty="0"/>
          </a:p>
        </p:txBody>
      </p:sp>
      <p:sp>
        <p:nvSpPr>
          <p:cNvPr id="20" name="Shape 18"/>
          <p:cNvSpPr/>
          <p:nvPr/>
        </p:nvSpPr>
        <p:spPr>
          <a:xfrm>
            <a:off x="4800600" y="3063240"/>
            <a:ext cx="4206240" cy="157276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4800600" y="3063240"/>
            <a:ext cx="4206240" cy="73152"/>
          </a:xfrm>
          <a:prstGeom prst="rect">
            <a:avLst/>
          </a:prstGeom>
          <a:solidFill>
            <a:srgbClr val="0B7A8C"/>
          </a:solidFill>
          <a:ln w="12700">
            <a:solidFill>
              <a:srgbClr val="0B7A8C"/>
            </a:solidFill>
            <a:prstDash val="solid"/>
          </a:ln>
        </p:spPr>
        <p:txBody>
          <a:bodyPr/>
          <a:lstStyle/>
          <a:p>
            <a:endParaRPr lang="en-US"/>
          </a:p>
        </p:txBody>
      </p:sp>
      <p:sp>
        <p:nvSpPr>
          <p:cNvPr id="22" name="Text 20"/>
          <p:cNvSpPr/>
          <p:nvPr/>
        </p:nvSpPr>
        <p:spPr>
          <a:xfrm>
            <a:off x="4937760" y="3172968"/>
            <a:ext cx="502920" cy="365760"/>
          </a:xfrm>
          <a:prstGeom prst="rect">
            <a:avLst/>
          </a:prstGeom>
          <a:noFill/>
          <a:ln/>
        </p:spPr>
        <p:txBody>
          <a:bodyPr wrap="square" lIns="0" tIns="0" rIns="0" bIns="0" rtlCol="0" anchor="ctr"/>
          <a:lstStyle/>
          <a:p>
            <a:pPr marL="0" indent="0" algn="l">
              <a:buNone/>
            </a:pPr>
            <a:r>
              <a:rPr lang="en-US" sz="2000" b="1" dirty="0">
                <a:solidFill>
                  <a:srgbClr val="0B7A8C"/>
                </a:solidFill>
                <a:latin typeface="Calibri" pitchFamily="34" charset="0"/>
                <a:ea typeface="Calibri" pitchFamily="34" charset="-122"/>
                <a:cs typeface="Calibri" pitchFamily="34" charset="-120"/>
              </a:rPr>
              <a:t>04</a:t>
            </a:r>
            <a:endParaRPr lang="en-US" sz="2000" dirty="0"/>
          </a:p>
        </p:txBody>
      </p:sp>
      <p:sp>
        <p:nvSpPr>
          <p:cNvPr id="23" name="Text 21"/>
          <p:cNvSpPr/>
          <p:nvPr/>
        </p:nvSpPr>
        <p:spPr>
          <a:xfrm>
            <a:off x="5458968" y="3154680"/>
            <a:ext cx="3429000" cy="347472"/>
          </a:xfrm>
          <a:prstGeom prst="rect">
            <a:avLst/>
          </a:prstGeom>
          <a:noFill/>
          <a:ln/>
        </p:spPr>
        <p:txBody>
          <a:bodyPr wrap="square" lIns="0" tIns="0" rIns="0" bIns="0" rtlCol="0" anchor="ctr"/>
          <a:lstStyle/>
          <a:p>
            <a:pPr marL="0" indent="0" algn="l">
              <a:buNone/>
            </a:pPr>
            <a:r>
              <a:rPr lang="en-US" sz="1300" b="1" dirty="0">
                <a:solidFill>
                  <a:srgbClr val="1A2040"/>
                </a:solidFill>
                <a:latin typeface="Calibri" pitchFamily="34" charset="0"/>
                <a:ea typeface="Calibri" pitchFamily="34" charset="-122"/>
                <a:cs typeface="Calibri" pitchFamily="34" charset="-120"/>
              </a:rPr>
              <a:t>Align Ownership Before Deployment</a:t>
            </a:r>
            <a:endParaRPr lang="en-US" sz="1300" dirty="0"/>
          </a:p>
        </p:txBody>
      </p:sp>
      <p:sp>
        <p:nvSpPr>
          <p:cNvPr id="24" name="Text 22"/>
          <p:cNvSpPr/>
          <p:nvPr/>
        </p:nvSpPr>
        <p:spPr>
          <a:xfrm>
            <a:off x="4965192" y="3611880"/>
            <a:ext cx="3913632" cy="914400"/>
          </a:xfrm>
          <a:prstGeom prst="rect">
            <a:avLst/>
          </a:prstGeom>
          <a:noFill/>
          <a:ln/>
        </p:spPr>
        <p:txBody>
          <a:bodyPr wrap="square" lIns="0" tIns="0" rIns="0" bIns="0" rtlCol="0" anchor="t"/>
          <a:lstStyle/>
          <a:p>
            <a:pPr marL="0" indent="0" algn="l">
              <a:buNone/>
            </a:pPr>
            <a:r>
              <a:rPr lang="en-US" sz="1150" dirty="0">
                <a:solidFill>
                  <a:srgbClr val="3A4A6B"/>
                </a:solidFill>
                <a:latin typeface="Calibri" pitchFamily="34" charset="0"/>
                <a:ea typeface="Calibri" pitchFamily="34" charset="-122"/>
                <a:cs typeface="Calibri" pitchFamily="34" charset="-120"/>
              </a:rPr>
              <a:t>Confirm which team owns each category of control so decisions are made by the right people.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Baseline Scan Overview</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SCAP scan results – January 2026</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6" name="Shape 4"/>
          <p:cNvSpPr/>
          <p:nvPr/>
        </p:nvSpPr>
        <p:spPr>
          <a:xfrm>
            <a:off x="347472" y="1261872"/>
            <a:ext cx="2606040" cy="2377440"/>
          </a:xfrm>
          <a:prstGeom prst="rect">
            <a:avLst/>
          </a:prstGeom>
          <a:solidFill>
            <a:srgbClr val="1A2B5E"/>
          </a:solidFill>
          <a:ln w="12700">
            <a:solidFill>
              <a:srgbClr val="1A2B5E"/>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347472" y="1371600"/>
            <a:ext cx="2606040" cy="1097280"/>
          </a:xfrm>
          <a:prstGeom prst="rect">
            <a:avLst/>
          </a:prstGeom>
          <a:noFill/>
          <a:ln/>
        </p:spPr>
        <p:txBody>
          <a:bodyPr wrap="square" lIns="0" tIns="0" rIns="0" bIns="0" rtlCol="0" anchor="ctr"/>
          <a:lstStyle/>
          <a:p>
            <a:pPr marL="0" indent="0" algn="ctr">
              <a:buNone/>
            </a:pPr>
            <a:r>
              <a:rPr lang="en-US" sz="5200" b="1" dirty="0">
                <a:solidFill>
                  <a:srgbClr val="12A3BC"/>
                </a:solidFill>
                <a:latin typeface="Calibri" pitchFamily="34" charset="0"/>
                <a:ea typeface="Calibri" pitchFamily="34" charset="-122"/>
                <a:cs typeface="Calibri" pitchFamily="34" charset="-120"/>
              </a:rPr>
              <a:t>36–45%</a:t>
            </a:r>
            <a:endParaRPr lang="en-US" sz="5200" dirty="0"/>
          </a:p>
        </p:txBody>
      </p:sp>
      <p:sp>
        <p:nvSpPr>
          <p:cNvPr id="8" name="Text 6"/>
          <p:cNvSpPr/>
          <p:nvPr/>
        </p:nvSpPr>
        <p:spPr>
          <a:xfrm>
            <a:off x="347472" y="2450592"/>
            <a:ext cx="2606040" cy="749808"/>
          </a:xfrm>
          <a:prstGeom prst="rect">
            <a:avLst/>
          </a:prstGeom>
          <a:noFill/>
          <a:ln/>
        </p:spPr>
        <p:txBody>
          <a:bodyPr wrap="square" lIns="0" tIns="0" rIns="0" bIns="0" rtlCol="0" anchor="ctr"/>
          <a:lstStyle/>
          <a:p>
            <a:pPr marL="0" indent="0" algn="ctr">
              <a:buNone/>
            </a:pPr>
            <a:r>
              <a:rPr lang="en-US" sz="1300" dirty="0">
                <a:solidFill>
                  <a:srgbClr val="9AB8D4"/>
                </a:solidFill>
                <a:latin typeface="Calibri" pitchFamily="34" charset="0"/>
                <a:ea typeface="Calibri" pitchFamily="34" charset="-122"/>
                <a:cs typeface="Calibri" pitchFamily="34" charset="-120"/>
              </a:rPr>
              <a:t>Current STIG</a:t>
            </a:r>
            <a:endParaRPr lang="en-US" sz="1300" dirty="0"/>
          </a:p>
          <a:p>
            <a:pPr marL="0" indent="0" algn="ctr">
              <a:buNone/>
            </a:pPr>
            <a:r>
              <a:rPr lang="en-US" sz="1300" dirty="0">
                <a:solidFill>
                  <a:srgbClr val="9AB8D4"/>
                </a:solidFill>
                <a:latin typeface="Calibri" pitchFamily="34" charset="0"/>
                <a:ea typeface="Calibri" pitchFamily="34" charset="-122"/>
                <a:cs typeface="Calibri" pitchFamily="34" charset="-120"/>
              </a:rPr>
              <a:t>Compliance</a:t>
            </a:r>
            <a:endParaRPr lang="en-US" sz="1300" dirty="0"/>
          </a:p>
        </p:txBody>
      </p:sp>
      <p:sp>
        <p:nvSpPr>
          <p:cNvPr id="9" name="Shape 7"/>
          <p:cNvSpPr/>
          <p:nvPr/>
        </p:nvSpPr>
        <p:spPr>
          <a:xfrm>
            <a:off x="3200400" y="1280160"/>
            <a:ext cx="5577840" cy="65836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00400" y="1280160"/>
            <a:ext cx="73152" cy="658368"/>
          </a:xfrm>
          <a:prstGeom prst="rect">
            <a:avLst/>
          </a:prstGeom>
          <a:solidFill>
            <a:srgbClr val="9B2335"/>
          </a:solidFill>
          <a:ln w="12700">
            <a:solidFill>
              <a:srgbClr val="9B2335"/>
            </a:solidFill>
            <a:prstDash val="solid"/>
          </a:ln>
        </p:spPr>
        <p:txBody>
          <a:bodyPr/>
          <a:lstStyle/>
          <a:p>
            <a:endParaRPr lang="en-US"/>
          </a:p>
        </p:txBody>
      </p:sp>
      <p:sp>
        <p:nvSpPr>
          <p:cNvPr id="11" name="Text 9"/>
          <p:cNvSpPr/>
          <p:nvPr/>
        </p:nvSpPr>
        <p:spPr>
          <a:xfrm>
            <a:off x="3401568" y="1353312"/>
            <a:ext cx="1005840" cy="512064"/>
          </a:xfrm>
          <a:prstGeom prst="rect">
            <a:avLst/>
          </a:prstGeom>
          <a:noFill/>
          <a:ln/>
        </p:spPr>
        <p:txBody>
          <a:bodyPr wrap="square" lIns="0" tIns="0" rIns="0" bIns="0" rtlCol="0" anchor="ctr"/>
          <a:lstStyle/>
          <a:p>
            <a:pPr marL="0" indent="0" algn="l">
              <a:buNone/>
            </a:pPr>
            <a:r>
              <a:rPr lang="en-US" sz="2400" b="1" dirty="0">
                <a:solidFill>
                  <a:srgbClr val="9B2335"/>
                </a:solidFill>
                <a:latin typeface="Calibri" pitchFamily="34" charset="0"/>
                <a:ea typeface="Calibri" pitchFamily="34" charset="-122"/>
                <a:cs typeface="Calibri" pitchFamily="34" charset="-120"/>
              </a:rPr>
              <a:t>~160</a:t>
            </a:r>
            <a:endParaRPr lang="en-US" sz="2400" dirty="0"/>
          </a:p>
        </p:txBody>
      </p:sp>
      <p:sp>
        <p:nvSpPr>
          <p:cNvPr id="12" name="Text 10"/>
          <p:cNvSpPr/>
          <p:nvPr/>
        </p:nvSpPr>
        <p:spPr>
          <a:xfrm>
            <a:off x="4443984" y="1371600"/>
            <a:ext cx="4206240" cy="475488"/>
          </a:xfrm>
          <a:prstGeom prst="rect">
            <a:avLst/>
          </a:prstGeom>
          <a:noFill/>
          <a:ln/>
        </p:spPr>
        <p:txBody>
          <a:bodyPr wrap="square" lIns="0" tIns="0" rIns="0" bIns="0" rtlCol="0" anchor="ctr"/>
          <a:lstStyle/>
          <a:p>
            <a:pPr marL="0" indent="0" algn="l">
              <a:buNone/>
            </a:pPr>
            <a:r>
              <a:rPr lang="en-US" sz="1200" dirty="0">
                <a:solidFill>
                  <a:srgbClr val="3A4A6B"/>
                </a:solidFill>
                <a:latin typeface="Calibri" pitchFamily="34" charset="0"/>
                <a:ea typeface="Calibri" pitchFamily="34" charset="-122"/>
                <a:cs typeface="Calibri" pitchFamily="34" charset="-120"/>
              </a:rPr>
              <a:t>Total STIG findings on scan</a:t>
            </a:r>
            <a:endParaRPr lang="en-US" sz="1200" dirty="0"/>
          </a:p>
        </p:txBody>
      </p:sp>
      <p:sp>
        <p:nvSpPr>
          <p:cNvPr id="13" name="Shape 11"/>
          <p:cNvSpPr/>
          <p:nvPr/>
        </p:nvSpPr>
        <p:spPr>
          <a:xfrm>
            <a:off x="3200400" y="2048256"/>
            <a:ext cx="5577840" cy="65836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3200400" y="2048256"/>
            <a:ext cx="73152" cy="658368"/>
          </a:xfrm>
          <a:prstGeom prst="rect">
            <a:avLst/>
          </a:prstGeom>
          <a:solidFill>
            <a:srgbClr val="0B7A8C"/>
          </a:solidFill>
          <a:ln w="12700">
            <a:solidFill>
              <a:srgbClr val="0B7A8C"/>
            </a:solidFill>
            <a:prstDash val="solid"/>
          </a:ln>
        </p:spPr>
        <p:txBody>
          <a:bodyPr/>
          <a:lstStyle/>
          <a:p>
            <a:endParaRPr lang="en-US"/>
          </a:p>
        </p:txBody>
      </p:sp>
      <p:sp>
        <p:nvSpPr>
          <p:cNvPr id="15" name="Text 13"/>
          <p:cNvSpPr/>
          <p:nvPr/>
        </p:nvSpPr>
        <p:spPr>
          <a:xfrm>
            <a:off x="3401568" y="2121408"/>
            <a:ext cx="1005840" cy="512064"/>
          </a:xfrm>
          <a:prstGeom prst="rect">
            <a:avLst/>
          </a:prstGeom>
          <a:noFill/>
          <a:ln/>
        </p:spPr>
        <p:txBody>
          <a:bodyPr wrap="square" lIns="0" tIns="0" rIns="0" bIns="0" rtlCol="0" anchor="ctr"/>
          <a:lstStyle/>
          <a:p>
            <a:pPr marL="0" indent="0" algn="l">
              <a:buNone/>
            </a:pPr>
            <a:r>
              <a:rPr lang="en-US" sz="2400" b="1" dirty="0">
                <a:solidFill>
                  <a:srgbClr val="0B7A8C"/>
                </a:solidFill>
                <a:latin typeface="Calibri" pitchFamily="34" charset="0"/>
                <a:ea typeface="Calibri" pitchFamily="34" charset="-122"/>
                <a:cs typeface="Calibri" pitchFamily="34" charset="-120"/>
              </a:rPr>
              <a:t>35</a:t>
            </a:r>
            <a:endParaRPr lang="en-US" sz="2400" dirty="0"/>
          </a:p>
        </p:txBody>
      </p:sp>
      <p:sp>
        <p:nvSpPr>
          <p:cNvPr id="16" name="Text 14"/>
          <p:cNvSpPr/>
          <p:nvPr/>
        </p:nvSpPr>
        <p:spPr>
          <a:xfrm>
            <a:off x="4443984" y="2139696"/>
            <a:ext cx="4206240" cy="475488"/>
          </a:xfrm>
          <a:prstGeom prst="rect">
            <a:avLst/>
          </a:prstGeom>
          <a:noFill/>
          <a:ln/>
        </p:spPr>
        <p:txBody>
          <a:bodyPr wrap="square" lIns="0" tIns="0" rIns="0" bIns="0" rtlCol="0" anchor="ctr"/>
          <a:lstStyle/>
          <a:p>
            <a:pPr marL="0" indent="0" algn="l">
              <a:buNone/>
            </a:pPr>
            <a:r>
              <a:rPr lang="en-US" sz="1200" dirty="0">
                <a:solidFill>
                  <a:srgbClr val="3A4A6B"/>
                </a:solidFill>
                <a:latin typeface="Calibri" pitchFamily="34" charset="0"/>
                <a:ea typeface="Calibri" pitchFamily="34" charset="-122"/>
                <a:cs typeface="Calibri" pitchFamily="34" charset="-120"/>
              </a:rPr>
              <a:t>Controls selected for this project</a:t>
            </a:r>
            <a:endParaRPr lang="en-US" sz="1200" dirty="0"/>
          </a:p>
        </p:txBody>
      </p:sp>
      <p:sp>
        <p:nvSpPr>
          <p:cNvPr id="17" name="Shape 15"/>
          <p:cNvSpPr/>
          <p:nvPr/>
        </p:nvSpPr>
        <p:spPr>
          <a:xfrm>
            <a:off x="3200400" y="2816352"/>
            <a:ext cx="5577840" cy="65836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200400" y="2816352"/>
            <a:ext cx="73152" cy="658368"/>
          </a:xfrm>
          <a:prstGeom prst="rect">
            <a:avLst/>
          </a:prstGeom>
          <a:solidFill>
            <a:srgbClr val="5F6B7C"/>
          </a:solidFill>
          <a:ln w="12700">
            <a:solidFill>
              <a:srgbClr val="5F6B7C"/>
            </a:solidFill>
            <a:prstDash val="solid"/>
          </a:ln>
        </p:spPr>
        <p:txBody>
          <a:bodyPr/>
          <a:lstStyle/>
          <a:p>
            <a:endParaRPr lang="en-US"/>
          </a:p>
        </p:txBody>
      </p:sp>
      <p:sp>
        <p:nvSpPr>
          <p:cNvPr id="19" name="Text 17"/>
          <p:cNvSpPr/>
          <p:nvPr/>
        </p:nvSpPr>
        <p:spPr>
          <a:xfrm>
            <a:off x="3401568" y="2889504"/>
            <a:ext cx="1005840" cy="512064"/>
          </a:xfrm>
          <a:prstGeom prst="rect">
            <a:avLst/>
          </a:prstGeom>
          <a:noFill/>
          <a:ln/>
        </p:spPr>
        <p:txBody>
          <a:bodyPr wrap="square" lIns="0" tIns="0" rIns="0" bIns="0" rtlCol="0" anchor="ctr"/>
          <a:lstStyle/>
          <a:p>
            <a:pPr marL="0" indent="0" algn="l">
              <a:buNone/>
            </a:pPr>
            <a:r>
              <a:rPr lang="en-US" sz="2400" b="1" dirty="0">
                <a:solidFill>
                  <a:srgbClr val="5F6B7C"/>
                </a:solidFill>
                <a:latin typeface="Calibri" pitchFamily="34" charset="0"/>
                <a:ea typeface="Calibri" pitchFamily="34" charset="-122"/>
                <a:cs typeface="Calibri" pitchFamily="34" charset="-120"/>
              </a:rPr>
              <a:t>~125</a:t>
            </a:r>
            <a:endParaRPr lang="en-US" sz="2400" dirty="0"/>
          </a:p>
        </p:txBody>
      </p:sp>
      <p:sp>
        <p:nvSpPr>
          <p:cNvPr id="20" name="Text 18"/>
          <p:cNvSpPr/>
          <p:nvPr/>
        </p:nvSpPr>
        <p:spPr>
          <a:xfrm>
            <a:off x="4443984" y="2907792"/>
            <a:ext cx="4206240" cy="475488"/>
          </a:xfrm>
          <a:prstGeom prst="rect">
            <a:avLst/>
          </a:prstGeom>
          <a:noFill/>
          <a:ln/>
        </p:spPr>
        <p:txBody>
          <a:bodyPr wrap="square" lIns="0" tIns="0" rIns="0" bIns="0" rtlCol="0" anchor="ctr"/>
          <a:lstStyle/>
          <a:p>
            <a:pPr marL="0" indent="0" algn="l">
              <a:buNone/>
            </a:pPr>
            <a:r>
              <a:rPr lang="en-US" sz="1200" dirty="0">
                <a:solidFill>
                  <a:srgbClr val="3A4A6B"/>
                </a:solidFill>
                <a:latin typeface="Calibri" pitchFamily="34" charset="0"/>
                <a:ea typeface="Calibri" pitchFamily="34" charset="-122"/>
                <a:cs typeface="Calibri" pitchFamily="34" charset="-120"/>
              </a:rPr>
              <a:t>Findings owned by other teams or out of scope</a:t>
            </a:r>
            <a:endParaRPr lang="en-US" sz="1200" dirty="0"/>
          </a:p>
        </p:txBody>
      </p:sp>
      <p:sp>
        <p:nvSpPr>
          <p:cNvPr id="22" name="Text 20"/>
          <p:cNvSpPr/>
          <p:nvPr/>
        </p:nvSpPr>
        <p:spPr>
          <a:xfrm>
            <a:off x="3200400" y="3657600"/>
            <a:ext cx="5577840" cy="1261872"/>
          </a:xfrm>
          <a:prstGeom prst="rect">
            <a:avLst/>
          </a:prstGeom>
          <a:noFill/>
          <a:ln/>
        </p:spPr>
        <p:txBody>
          <a:bodyPr wrap="square" rtlCol="0" anchor="ctr"/>
          <a:lstStyle/>
          <a:p>
            <a:pPr marL="0" indent="0" algn="ctr">
              <a:buNone/>
            </a:pPr>
            <a:endParaRPr lang="en-US" sz="1100" dirty="0"/>
          </a:p>
        </p:txBody>
      </p:sp>
      <p:pic>
        <p:nvPicPr>
          <p:cNvPr id="26" name="Picture 25">
            <a:extLst>
              <a:ext uri="{FF2B5EF4-FFF2-40B4-BE49-F238E27FC236}">
                <a16:creationId xmlns:a16="http://schemas.microsoft.com/office/drawing/2014/main" id="{93D48BEE-AB17-77E6-C932-3E7C7F5784C0}"/>
              </a:ext>
            </a:extLst>
          </p:cNvPr>
          <p:cNvPicPr>
            <a:picLocks noChangeAspect="1"/>
          </p:cNvPicPr>
          <p:nvPr/>
        </p:nvPicPr>
        <p:blipFill>
          <a:blip r:embed="rId3"/>
          <a:stretch>
            <a:fillRect/>
          </a:stretch>
        </p:blipFill>
        <p:spPr>
          <a:xfrm>
            <a:off x="3849070" y="3566160"/>
            <a:ext cx="1290967" cy="1498499"/>
          </a:xfrm>
          <a:prstGeom prst="rect">
            <a:avLst/>
          </a:prstGeom>
        </p:spPr>
      </p:pic>
      <p:sp>
        <p:nvSpPr>
          <p:cNvPr id="27" name="Text 5">
            <a:extLst>
              <a:ext uri="{FF2B5EF4-FFF2-40B4-BE49-F238E27FC236}">
                <a16:creationId xmlns:a16="http://schemas.microsoft.com/office/drawing/2014/main" id="{6C174025-7F92-4784-A8BD-261AC8CBC865}"/>
              </a:ext>
            </a:extLst>
          </p:cNvPr>
          <p:cNvSpPr/>
          <p:nvPr/>
        </p:nvSpPr>
        <p:spPr>
          <a:xfrm>
            <a:off x="5902037" y="4055503"/>
            <a:ext cx="645068" cy="419524"/>
          </a:xfrm>
          <a:prstGeom prst="rect">
            <a:avLst/>
          </a:prstGeom>
          <a:noFill/>
          <a:ln/>
        </p:spPr>
        <p:txBody>
          <a:bodyPr wrap="square" lIns="0" tIns="0" rIns="0" bIns="0" rtlCol="0" anchor="ctr"/>
          <a:lstStyle/>
          <a:p>
            <a:pPr marL="0" indent="0" algn="ctr">
              <a:buNone/>
            </a:pPr>
            <a:r>
              <a:rPr lang="en-US" b="1" dirty="0">
                <a:solidFill>
                  <a:srgbClr val="12A3BC"/>
                </a:solidFill>
                <a:latin typeface="Calibri" pitchFamily="34" charset="0"/>
                <a:ea typeface="Calibri" pitchFamily="34" charset="-122"/>
                <a:cs typeface="Calibri" pitchFamily="34" charset="-120"/>
              </a:rPr>
              <a:t>~45%</a:t>
            </a:r>
            <a:endParaRPr lang="en-US" dirty="0"/>
          </a:p>
        </p:txBody>
      </p:sp>
      <p:sp>
        <p:nvSpPr>
          <p:cNvPr id="28" name="Text 5">
            <a:extLst>
              <a:ext uri="{FF2B5EF4-FFF2-40B4-BE49-F238E27FC236}">
                <a16:creationId xmlns:a16="http://schemas.microsoft.com/office/drawing/2014/main" id="{9382D37D-7170-7761-9106-F492F4484170}"/>
              </a:ext>
            </a:extLst>
          </p:cNvPr>
          <p:cNvSpPr/>
          <p:nvPr/>
        </p:nvSpPr>
        <p:spPr>
          <a:xfrm>
            <a:off x="3241825" y="4055503"/>
            <a:ext cx="483801" cy="419524"/>
          </a:xfrm>
          <a:prstGeom prst="rect">
            <a:avLst/>
          </a:prstGeom>
          <a:noFill/>
          <a:ln/>
        </p:spPr>
        <p:txBody>
          <a:bodyPr wrap="square" lIns="0" tIns="0" rIns="0" bIns="0" rtlCol="0" anchor="ctr"/>
          <a:lstStyle/>
          <a:p>
            <a:pPr marL="0" indent="0" algn="ctr">
              <a:buNone/>
            </a:pPr>
            <a:r>
              <a:rPr lang="en-US" b="1" dirty="0">
                <a:solidFill>
                  <a:srgbClr val="12A3BC"/>
                </a:solidFill>
                <a:latin typeface="Calibri" pitchFamily="34" charset="0"/>
                <a:ea typeface="Calibri" pitchFamily="34" charset="-122"/>
                <a:cs typeface="Calibri" pitchFamily="34" charset="-120"/>
              </a:rPr>
              <a:t>36%</a:t>
            </a:r>
            <a:endParaRPr lang="en-US" dirty="0"/>
          </a:p>
        </p:txBody>
      </p:sp>
      <p:pic>
        <p:nvPicPr>
          <p:cNvPr id="30" name="Picture 29">
            <a:extLst>
              <a:ext uri="{FF2B5EF4-FFF2-40B4-BE49-F238E27FC236}">
                <a16:creationId xmlns:a16="http://schemas.microsoft.com/office/drawing/2014/main" id="{CD6A7CD6-EF79-E30C-EDAA-331F863AADA9}"/>
              </a:ext>
            </a:extLst>
          </p:cNvPr>
          <p:cNvPicPr>
            <a:picLocks noChangeAspect="1"/>
          </p:cNvPicPr>
          <p:nvPr/>
        </p:nvPicPr>
        <p:blipFill>
          <a:blip r:embed="rId4"/>
          <a:stretch>
            <a:fillRect/>
          </a:stretch>
        </p:blipFill>
        <p:spPr>
          <a:xfrm>
            <a:off x="6624755" y="3584448"/>
            <a:ext cx="1290966" cy="14886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Findings Breakdown and Selection Strategy</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Full scan breakdown — 35 of 160 findings selected for this project</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graphicFrame>
        <p:nvGraphicFramePr>
          <p:cNvPr id="6" name="Chart 0"/>
          <p:cNvGraphicFramePr/>
          <p:nvPr/>
        </p:nvGraphicFramePr>
        <p:xfrm>
          <a:off x="347472" y="1261872"/>
          <a:ext cx="5394960" cy="3310128"/>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989320" y="1298448"/>
            <a:ext cx="2788920" cy="56692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5"/>
          <p:cNvSpPr/>
          <p:nvPr/>
        </p:nvSpPr>
        <p:spPr>
          <a:xfrm>
            <a:off x="5989320" y="1298448"/>
            <a:ext cx="73152" cy="566928"/>
          </a:xfrm>
          <a:prstGeom prst="rect">
            <a:avLst/>
          </a:prstGeom>
          <a:solidFill>
            <a:srgbClr val="1A2B5E"/>
          </a:solidFill>
          <a:ln w="12700">
            <a:solidFill>
              <a:srgbClr val="1A2B5E"/>
            </a:solidFill>
            <a:prstDash val="solid"/>
          </a:ln>
        </p:spPr>
        <p:txBody>
          <a:bodyPr/>
          <a:lstStyle/>
          <a:p>
            <a:endParaRPr lang="en-US"/>
          </a:p>
        </p:txBody>
      </p:sp>
      <p:sp>
        <p:nvSpPr>
          <p:cNvPr id="9" name="Text 6"/>
          <p:cNvSpPr/>
          <p:nvPr/>
        </p:nvSpPr>
        <p:spPr>
          <a:xfrm>
            <a:off x="6144768" y="1353312"/>
            <a:ext cx="640080" cy="457200"/>
          </a:xfrm>
          <a:prstGeom prst="rect">
            <a:avLst/>
          </a:prstGeom>
          <a:noFill/>
          <a:ln/>
        </p:spPr>
        <p:txBody>
          <a:bodyPr wrap="square" lIns="0" tIns="0" rIns="0" bIns="0" rtlCol="0" anchor="ctr"/>
          <a:lstStyle/>
          <a:p>
            <a:pPr marL="0" indent="0" algn="l">
              <a:buNone/>
            </a:pPr>
            <a:r>
              <a:rPr lang="en-US" sz="2000" b="1" dirty="0">
                <a:solidFill>
                  <a:srgbClr val="1A2B5E"/>
                </a:solidFill>
                <a:latin typeface="Calibri" pitchFamily="34" charset="0"/>
                <a:ea typeface="Calibri" pitchFamily="34" charset="-122"/>
                <a:cs typeface="Calibri" pitchFamily="34" charset="-120"/>
              </a:rPr>
              <a:t>~160</a:t>
            </a:r>
            <a:endParaRPr lang="en-US" sz="2000" dirty="0"/>
          </a:p>
        </p:txBody>
      </p:sp>
      <p:sp>
        <p:nvSpPr>
          <p:cNvPr id="10" name="Text 7"/>
          <p:cNvSpPr/>
          <p:nvPr/>
        </p:nvSpPr>
        <p:spPr>
          <a:xfrm>
            <a:off x="6812280" y="1389888"/>
            <a:ext cx="1828800" cy="402336"/>
          </a:xfrm>
          <a:prstGeom prst="rect">
            <a:avLst/>
          </a:prstGeom>
          <a:noFill/>
          <a:ln/>
        </p:spPr>
        <p:txBody>
          <a:bodyPr wrap="square" lIns="0" tIns="0" rIns="0" bIns="0" rtlCol="0" anchor="ctr"/>
          <a:lstStyle/>
          <a:p>
            <a:pPr marL="0" indent="0" algn="l">
              <a:buNone/>
            </a:pPr>
            <a:r>
              <a:rPr lang="en-US" sz="1100" dirty="0">
                <a:solidFill>
                  <a:srgbClr val="3A4A6B"/>
                </a:solidFill>
                <a:latin typeface="Calibri" pitchFamily="34" charset="0"/>
                <a:ea typeface="Calibri" pitchFamily="34" charset="-122"/>
                <a:cs typeface="Calibri" pitchFamily="34" charset="-120"/>
              </a:rPr>
              <a:t>Total Findings</a:t>
            </a:r>
            <a:endParaRPr lang="en-US" sz="1100" dirty="0"/>
          </a:p>
        </p:txBody>
      </p:sp>
      <p:sp>
        <p:nvSpPr>
          <p:cNvPr id="11" name="Shape 8"/>
          <p:cNvSpPr/>
          <p:nvPr/>
        </p:nvSpPr>
        <p:spPr>
          <a:xfrm>
            <a:off x="5989320" y="1975104"/>
            <a:ext cx="2788920" cy="56692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9"/>
          <p:cNvSpPr/>
          <p:nvPr/>
        </p:nvSpPr>
        <p:spPr>
          <a:xfrm>
            <a:off x="5989320" y="1975104"/>
            <a:ext cx="73152" cy="566928"/>
          </a:xfrm>
          <a:prstGeom prst="rect">
            <a:avLst/>
          </a:prstGeom>
          <a:solidFill>
            <a:srgbClr val="0B7A8C"/>
          </a:solidFill>
          <a:ln w="12700">
            <a:solidFill>
              <a:srgbClr val="0B7A8C"/>
            </a:solidFill>
            <a:prstDash val="solid"/>
          </a:ln>
        </p:spPr>
        <p:txBody>
          <a:bodyPr/>
          <a:lstStyle/>
          <a:p>
            <a:endParaRPr lang="en-US"/>
          </a:p>
        </p:txBody>
      </p:sp>
      <p:sp>
        <p:nvSpPr>
          <p:cNvPr id="13" name="Text 10"/>
          <p:cNvSpPr/>
          <p:nvPr/>
        </p:nvSpPr>
        <p:spPr>
          <a:xfrm>
            <a:off x="6144768" y="2029968"/>
            <a:ext cx="640080" cy="457200"/>
          </a:xfrm>
          <a:prstGeom prst="rect">
            <a:avLst/>
          </a:prstGeom>
          <a:noFill/>
          <a:ln/>
        </p:spPr>
        <p:txBody>
          <a:bodyPr wrap="square" lIns="0" tIns="0" rIns="0" bIns="0" rtlCol="0" anchor="ctr"/>
          <a:lstStyle/>
          <a:p>
            <a:pPr marL="0" indent="0" algn="l">
              <a:buNone/>
            </a:pPr>
            <a:r>
              <a:rPr lang="en-US" sz="2000" b="1" dirty="0">
                <a:solidFill>
                  <a:srgbClr val="0B7A8C"/>
                </a:solidFill>
                <a:latin typeface="Calibri" pitchFamily="34" charset="0"/>
                <a:ea typeface="Calibri" pitchFamily="34" charset="-122"/>
                <a:cs typeface="Calibri" pitchFamily="34" charset="-120"/>
              </a:rPr>
              <a:t>11</a:t>
            </a:r>
            <a:endParaRPr lang="en-US" sz="2000" dirty="0"/>
          </a:p>
        </p:txBody>
      </p:sp>
      <p:sp>
        <p:nvSpPr>
          <p:cNvPr id="14" name="Text 11"/>
          <p:cNvSpPr/>
          <p:nvPr/>
        </p:nvSpPr>
        <p:spPr>
          <a:xfrm>
            <a:off x="6812280" y="2066544"/>
            <a:ext cx="1828800" cy="402336"/>
          </a:xfrm>
          <a:prstGeom prst="rect">
            <a:avLst/>
          </a:prstGeom>
          <a:noFill/>
          <a:ln/>
        </p:spPr>
        <p:txBody>
          <a:bodyPr wrap="square" lIns="0" tIns="0" rIns="0" bIns="0" rtlCol="0" anchor="ctr"/>
          <a:lstStyle/>
          <a:p>
            <a:pPr marL="0" indent="0" algn="l">
              <a:buNone/>
            </a:pPr>
            <a:r>
              <a:rPr lang="en-US" sz="1100" dirty="0">
                <a:solidFill>
                  <a:srgbClr val="3A4A6B"/>
                </a:solidFill>
                <a:latin typeface="Calibri" pitchFamily="34" charset="0"/>
                <a:ea typeface="Calibri" pitchFamily="34" charset="-122"/>
                <a:cs typeface="Calibri" pitchFamily="34" charset="-120"/>
              </a:rPr>
              <a:t>Tier 1 – Safe to Deploy</a:t>
            </a:r>
            <a:endParaRPr lang="en-US" sz="1100" dirty="0"/>
          </a:p>
        </p:txBody>
      </p:sp>
      <p:sp>
        <p:nvSpPr>
          <p:cNvPr id="15" name="Shape 12"/>
          <p:cNvSpPr/>
          <p:nvPr/>
        </p:nvSpPr>
        <p:spPr>
          <a:xfrm>
            <a:off x="5989320" y="2651760"/>
            <a:ext cx="2788920" cy="56692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3"/>
          <p:cNvSpPr/>
          <p:nvPr/>
        </p:nvSpPr>
        <p:spPr>
          <a:xfrm>
            <a:off x="5989320" y="2651760"/>
            <a:ext cx="73152" cy="566928"/>
          </a:xfrm>
          <a:prstGeom prst="rect">
            <a:avLst/>
          </a:prstGeom>
          <a:solidFill>
            <a:srgbClr val="B86E00"/>
          </a:solidFill>
          <a:ln w="12700">
            <a:solidFill>
              <a:srgbClr val="B86E00"/>
            </a:solidFill>
            <a:prstDash val="solid"/>
          </a:ln>
        </p:spPr>
        <p:txBody>
          <a:bodyPr/>
          <a:lstStyle/>
          <a:p>
            <a:endParaRPr lang="en-US"/>
          </a:p>
        </p:txBody>
      </p:sp>
      <p:sp>
        <p:nvSpPr>
          <p:cNvPr id="17" name="Text 14"/>
          <p:cNvSpPr/>
          <p:nvPr/>
        </p:nvSpPr>
        <p:spPr>
          <a:xfrm>
            <a:off x="6144768" y="2706624"/>
            <a:ext cx="640080" cy="457200"/>
          </a:xfrm>
          <a:prstGeom prst="rect">
            <a:avLst/>
          </a:prstGeom>
          <a:noFill/>
          <a:ln/>
        </p:spPr>
        <p:txBody>
          <a:bodyPr wrap="square" lIns="0" tIns="0" rIns="0" bIns="0" rtlCol="0" anchor="ctr"/>
          <a:lstStyle/>
          <a:p>
            <a:pPr marL="0" indent="0" algn="l">
              <a:buNone/>
            </a:pPr>
            <a:r>
              <a:rPr lang="en-US" sz="2000" b="1" dirty="0">
                <a:solidFill>
                  <a:srgbClr val="B86E00"/>
                </a:solidFill>
                <a:latin typeface="Calibri" pitchFamily="34" charset="0"/>
                <a:ea typeface="Calibri" pitchFamily="34" charset="-122"/>
                <a:cs typeface="Calibri" pitchFamily="34" charset="-120"/>
              </a:rPr>
              <a:t>16</a:t>
            </a:r>
            <a:endParaRPr lang="en-US" sz="2000" dirty="0"/>
          </a:p>
        </p:txBody>
      </p:sp>
      <p:sp>
        <p:nvSpPr>
          <p:cNvPr id="18" name="Text 15"/>
          <p:cNvSpPr/>
          <p:nvPr/>
        </p:nvSpPr>
        <p:spPr>
          <a:xfrm>
            <a:off x="6812280" y="2743200"/>
            <a:ext cx="1828800" cy="402336"/>
          </a:xfrm>
          <a:prstGeom prst="rect">
            <a:avLst/>
          </a:prstGeom>
          <a:noFill/>
          <a:ln/>
        </p:spPr>
        <p:txBody>
          <a:bodyPr wrap="square" lIns="0" tIns="0" rIns="0" bIns="0" rtlCol="0" anchor="ctr"/>
          <a:lstStyle/>
          <a:p>
            <a:pPr marL="0" indent="0" algn="l">
              <a:buNone/>
            </a:pPr>
            <a:r>
              <a:rPr lang="en-US" sz="1100" dirty="0">
                <a:solidFill>
                  <a:srgbClr val="3A4A6B"/>
                </a:solidFill>
                <a:latin typeface="Calibri" pitchFamily="34" charset="0"/>
                <a:ea typeface="Calibri" pitchFamily="34" charset="-122"/>
                <a:cs typeface="Calibri" pitchFamily="34" charset="-120"/>
              </a:rPr>
              <a:t>Tier 2 – Under Testing</a:t>
            </a:r>
            <a:endParaRPr lang="en-US" sz="1100" dirty="0"/>
          </a:p>
        </p:txBody>
      </p:sp>
      <p:sp>
        <p:nvSpPr>
          <p:cNvPr id="19" name="Shape 16"/>
          <p:cNvSpPr/>
          <p:nvPr/>
        </p:nvSpPr>
        <p:spPr>
          <a:xfrm>
            <a:off x="5989320" y="3328416"/>
            <a:ext cx="2788920" cy="56692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7"/>
          <p:cNvSpPr/>
          <p:nvPr/>
        </p:nvSpPr>
        <p:spPr>
          <a:xfrm>
            <a:off x="5989320" y="3328416"/>
            <a:ext cx="73152" cy="566928"/>
          </a:xfrm>
          <a:prstGeom prst="rect">
            <a:avLst/>
          </a:prstGeom>
          <a:solidFill>
            <a:srgbClr val="9B2335"/>
          </a:solidFill>
          <a:ln w="12700">
            <a:solidFill>
              <a:srgbClr val="9B2335"/>
            </a:solidFill>
            <a:prstDash val="solid"/>
          </a:ln>
        </p:spPr>
        <p:txBody>
          <a:bodyPr/>
          <a:lstStyle/>
          <a:p>
            <a:endParaRPr lang="en-US"/>
          </a:p>
        </p:txBody>
      </p:sp>
      <p:sp>
        <p:nvSpPr>
          <p:cNvPr id="21" name="Text 18"/>
          <p:cNvSpPr/>
          <p:nvPr/>
        </p:nvSpPr>
        <p:spPr>
          <a:xfrm>
            <a:off x="6144768" y="3383280"/>
            <a:ext cx="640080" cy="457200"/>
          </a:xfrm>
          <a:prstGeom prst="rect">
            <a:avLst/>
          </a:prstGeom>
          <a:noFill/>
          <a:ln/>
        </p:spPr>
        <p:txBody>
          <a:bodyPr wrap="square" lIns="0" tIns="0" rIns="0" bIns="0" rtlCol="0" anchor="ctr"/>
          <a:lstStyle/>
          <a:p>
            <a:pPr marL="0" indent="0" algn="l">
              <a:buNone/>
            </a:pPr>
            <a:r>
              <a:rPr lang="en-US" sz="2000" b="1" dirty="0">
                <a:solidFill>
                  <a:srgbClr val="9B2335"/>
                </a:solidFill>
                <a:latin typeface="Calibri" pitchFamily="34" charset="0"/>
                <a:ea typeface="Calibri" pitchFamily="34" charset="-122"/>
                <a:cs typeface="Calibri" pitchFamily="34" charset="-120"/>
              </a:rPr>
              <a:t>8</a:t>
            </a:r>
            <a:endParaRPr lang="en-US" sz="2000" dirty="0"/>
          </a:p>
        </p:txBody>
      </p:sp>
      <p:sp>
        <p:nvSpPr>
          <p:cNvPr id="22" name="Text 19"/>
          <p:cNvSpPr/>
          <p:nvPr/>
        </p:nvSpPr>
        <p:spPr>
          <a:xfrm>
            <a:off x="6812280" y="3419856"/>
            <a:ext cx="1828800" cy="402336"/>
          </a:xfrm>
          <a:prstGeom prst="rect">
            <a:avLst/>
          </a:prstGeom>
          <a:noFill/>
          <a:ln/>
        </p:spPr>
        <p:txBody>
          <a:bodyPr wrap="square" lIns="0" tIns="0" rIns="0" bIns="0" rtlCol="0" anchor="ctr"/>
          <a:lstStyle/>
          <a:p>
            <a:pPr marL="0" indent="0" algn="l">
              <a:buNone/>
            </a:pPr>
            <a:r>
              <a:rPr lang="en-US" sz="1100" dirty="0">
                <a:solidFill>
                  <a:srgbClr val="3A4A6B"/>
                </a:solidFill>
                <a:latin typeface="Calibri" pitchFamily="34" charset="0"/>
                <a:ea typeface="Calibri" pitchFamily="34" charset="-122"/>
                <a:cs typeface="Calibri" pitchFamily="34" charset="-120"/>
              </a:rPr>
              <a:t>Tier 3 – Deferred</a:t>
            </a:r>
            <a:endParaRPr lang="en-US" sz="1100" dirty="0"/>
          </a:p>
        </p:txBody>
      </p:sp>
      <p:sp>
        <p:nvSpPr>
          <p:cNvPr id="23" name="Shape 20"/>
          <p:cNvSpPr/>
          <p:nvPr/>
        </p:nvSpPr>
        <p:spPr>
          <a:xfrm>
            <a:off x="5989320" y="4005072"/>
            <a:ext cx="2788920" cy="566928"/>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1"/>
          <p:cNvSpPr/>
          <p:nvPr/>
        </p:nvSpPr>
        <p:spPr>
          <a:xfrm>
            <a:off x="5989320" y="4005072"/>
            <a:ext cx="73152" cy="566928"/>
          </a:xfrm>
          <a:prstGeom prst="rect">
            <a:avLst/>
          </a:prstGeom>
          <a:solidFill>
            <a:srgbClr val="8A96A8"/>
          </a:solidFill>
          <a:ln w="12700">
            <a:solidFill>
              <a:srgbClr val="8A96A8"/>
            </a:solidFill>
            <a:prstDash val="solid"/>
          </a:ln>
        </p:spPr>
        <p:txBody>
          <a:bodyPr/>
          <a:lstStyle/>
          <a:p>
            <a:endParaRPr lang="en-US"/>
          </a:p>
        </p:txBody>
      </p:sp>
      <p:sp>
        <p:nvSpPr>
          <p:cNvPr id="25" name="Text 22"/>
          <p:cNvSpPr/>
          <p:nvPr/>
        </p:nvSpPr>
        <p:spPr>
          <a:xfrm>
            <a:off x="6144768" y="4059936"/>
            <a:ext cx="640080" cy="457200"/>
          </a:xfrm>
          <a:prstGeom prst="rect">
            <a:avLst/>
          </a:prstGeom>
          <a:noFill/>
          <a:ln/>
        </p:spPr>
        <p:txBody>
          <a:bodyPr wrap="square" lIns="0" tIns="0" rIns="0" bIns="0" rtlCol="0" anchor="ctr"/>
          <a:lstStyle/>
          <a:p>
            <a:pPr marL="0" indent="0" algn="l">
              <a:buNone/>
            </a:pPr>
            <a:r>
              <a:rPr lang="en-US" sz="2000" b="1" dirty="0">
                <a:solidFill>
                  <a:srgbClr val="8A96A8"/>
                </a:solidFill>
                <a:latin typeface="Calibri" pitchFamily="34" charset="0"/>
                <a:ea typeface="Calibri" pitchFamily="34" charset="-122"/>
                <a:cs typeface="Calibri" pitchFamily="34" charset="-120"/>
              </a:rPr>
              <a:t>~125</a:t>
            </a:r>
            <a:endParaRPr lang="en-US" sz="2000" dirty="0"/>
          </a:p>
        </p:txBody>
      </p:sp>
      <p:sp>
        <p:nvSpPr>
          <p:cNvPr id="26" name="Text 23"/>
          <p:cNvSpPr/>
          <p:nvPr/>
        </p:nvSpPr>
        <p:spPr>
          <a:xfrm>
            <a:off x="6812280" y="4096512"/>
            <a:ext cx="1828800" cy="402336"/>
          </a:xfrm>
          <a:prstGeom prst="rect">
            <a:avLst/>
          </a:prstGeom>
          <a:noFill/>
          <a:ln/>
        </p:spPr>
        <p:txBody>
          <a:bodyPr wrap="square" lIns="0" tIns="0" rIns="0" bIns="0" rtlCol="0" anchor="ctr"/>
          <a:lstStyle/>
          <a:p>
            <a:pPr marL="0" indent="0" algn="l">
              <a:buNone/>
            </a:pPr>
            <a:r>
              <a:rPr lang="en-US" sz="1100" dirty="0">
                <a:solidFill>
                  <a:srgbClr val="3A4A6B"/>
                </a:solidFill>
                <a:latin typeface="Calibri" pitchFamily="34" charset="0"/>
                <a:ea typeface="Calibri" pitchFamily="34" charset="-122"/>
                <a:cs typeface="Calibri" pitchFamily="34" charset="-120"/>
              </a:rPr>
              <a:t>Other Teams / Out of Scope</a:t>
            </a:r>
            <a:endParaRPr lang="en-US" sz="1100" dirty="0"/>
          </a:p>
        </p:txBody>
      </p:sp>
      <p:sp>
        <p:nvSpPr>
          <p:cNvPr id="27" name="Shape 24"/>
          <p:cNvSpPr/>
          <p:nvPr/>
        </p:nvSpPr>
        <p:spPr>
          <a:xfrm>
            <a:off x="347472" y="4736592"/>
            <a:ext cx="8430768" cy="274320"/>
          </a:xfrm>
          <a:prstGeom prst="rect">
            <a:avLst/>
          </a:prstGeom>
          <a:solidFill>
            <a:srgbClr val="1A2B5E"/>
          </a:solidFill>
          <a:ln w="12700">
            <a:solidFill>
              <a:srgbClr val="1A2B5E"/>
            </a:solidFill>
            <a:prstDash val="solid"/>
          </a:ln>
        </p:spPr>
        <p:txBody>
          <a:bodyPr/>
          <a:lstStyle/>
          <a:p>
            <a:endParaRPr lang="en-US"/>
          </a:p>
        </p:txBody>
      </p:sp>
      <p:sp>
        <p:nvSpPr>
          <p:cNvPr id="28" name="Text 25"/>
          <p:cNvSpPr/>
          <p:nvPr/>
        </p:nvSpPr>
        <p:spPr>
          <a:xfrm>
            <a:off x="502920" y="4736592"/>
            <a:ext cx="8229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These 160 findings represent the full SCAP scan — not just the 35 in scope. The 35 selected controls span all three tiers and represent the safest, highest-value subset to pilot first.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Tier Classification Model</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Controls grouped by operational risk and deployment readiness</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6" name="Shape 4"/>
          <p:cNvSpPr/>
          <p:nvPr/>
        </p:nvSpPr>
        <p:spPr>
          <a:xfrm>
            <a:off x="347472" y="1261872"/>
            <a:ext cx="2724912" cy="3639312"/>
          </a:xfrm>
          <a:prstGeom prst="rect">
            <a:avLst/>
          </a:prstGeom>
          <a:solidFill>
            <a:srgbClr val="E6F5F8"/>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47472" y="1261872"/>
            <a:ext cx="2724912" cy="502920"/>
          </a:xfrm>
          <a:prstGeom prst="rect">
            <a:avLst/>
          </a:prstGeom>
          <a:solidFill>
            <a:srgbClr val="0B7A8C"/>
          </a:solidFill>
          <a:ln w="12700">
            <a:solidFill>
              <a:srgbClr val="0B7A8C"/>
            </a:solidFill>
            <a:prstDash val="solid"/>
          </a:ln>
        </p:spPr>
        <p:txBody>
          <a:bodyPr/>
          <a:lstStyle/>
          <a:p>
            <a:endParaRPr lang="en-US"/>
          </a:p>
        </p:txBody>
      </p:sp>
      <p:sp>
        <p:nvSpPr>
          <p:cNvPr id="8" name="Text 6"/>
          <p:cNvSpPr/>
          <p:nvPr/>
        </p:nvSpPr>
        <p:spPr>
          <a:xfrm>
            <a:off x="484632" y="1307592"/>
            <a:ext cx="2468880" cy="384048"/>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Tier 1</a:t>
            </a:r>
            <a:endParaRPr lang="en-US" sz="1800" dirty="0"/>
          </a:p>
        </p:txBody>
      </p:sp>
      <p:sp>
        <p:nvSpPr>
          <p:cNvPr id="9" name="Shape 7"/>
          <p:cNvSpPr/>
          <p:nvPr/>
        </p:nvSpPr>
        <p:spPr>
          <a:xfrm>
            <a:off x="457200" y="1865376"/>
            <a:ext cx="2487168" cy="256032"/>
          </a:xfrm>
          <a:prstGeom prst="rect">
            <a:avLst/>
          </a:prstGeom>
          <a:solidFill>
            <a:srgbClr val="0B7A8C">
              <a:alpha val="15000"/>
            </a:srgbClr>
          </a:solidFill>
          <a:ln w="12700">
            <a:solidFill>
              <a:srgbClr val="0B7A8C"/>
            </a:solidFill>
            <a:prstDash val="solid"/>
          </a:ln>
        </p:spPr>
        <p:txBody>
          <a:bodyPr/>
          <a:lstStyle/>
          <a:p>
            <a:endParaRPr lang="en-US"/>
          </a:p>
        </p:txBody>
      </p:sp>
      <p:sp>
        <p:nvSpPr>
          <p:cNvPr id="10" name="Text 8"/>
          <p:cNvSpPr/>
          <p:nvPr/>
        </p:nvSpPr>
        <p:spPr>
          <a:xfrm>
            <a:off x="457200" y="1865376"/>
            <a:ext cx="2487168" cy="256032"/>
          </a:xfrm>
          <a:prstGeom prst="rect">
            <a:avLst/>
          </a:prstGeom>
          <a:noFill/>
          <a:ln/>
        </p:spPr>
        <p:txBody>
          <a:bodyPr wrap="square" lIns="0" tIns="0" rIns="0" bIns="0" rtlCol="0" anchor="ctr"/>
          <a:lstStyle/>
          <a:p>
            <a:pPr marL="0" indent="0" algn="ctr">
              <a:buNone/>
            </a:pPr>
            <a:r>
              <a:rPr lang="en-US" sz="900" b="1" dirty="0">
                <a:solidFill>
                  <a:srgbClr val="0B7A8C"/>
                </a:solidFill>
                <a:latin typeface="Calibri" pitchFamily="34" charset="0"/>
                <a:ea typeface="Calibri" pitchFamily="34" charset="-122"/>
                <a:cs typeface="Calibri" pitchFamily="34" charset="-120"/>
              </a:rPr>
              <a:t>VALIDATED · PILOT READY</a:t>
            </a:r>
            <a:endParaRPr lang="en-US" sz="900" dirty="0"/>
          </a:p>
        </p:txBody>
      </p:sp>
      <p:sp>
        <p:nvSpPr>
          <p:cNvPr id="11" name="Text 9"/>
          <p:cNvSpPr/>
          <p:nvPr/>
        </p:nvSpPr>
        <p:spPr>
          <a:xfrm>
            <a:off x="512064" y="2231136"/>
            <a:ext cx="2377440" cy="2542032"/>
          </a:xfrm>
          <a:prstGeom prst="rect">
            <a:avLst/>
          </a:prstGeom>
          <a:noFill/>
          <a:ln/>
        </p:spPr>
        <p:txBody>
          <a:bodyPr wrap="square" lIns="0" tIns="0" rIns="0" bIns="0" rtlCol="0" anchor="t"/>
          <a:lstStyle/>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Low operational impact on users and IT</a:t>
            </a:r>
            <a:endParaRPr lang="en-US" sz="1200" dirty="0"/>
          </a:p>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High security value</a:t>
            </a:r>
            <a:endParaRPr lang="en-US" sz="1200" dirty="0"/>
          </a:p>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Smoke-tested and validated</a:t>
            </a:r>
            <a:endParaRPr lang="en-US" sz="1200" dirty="0"/>
          </a:p>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Ready for GPO / Intune deployment</a:t>
            </a:r>
            <a:endParaRPr lang="en-US" sz="1200" dirty="0"/>
          </a:p>
          <a:p>
            <a:pPr marL="342900" indent="-342900" algn="l">
              <a:spcAft>
                <a:spcPts val="700"/>
              </a:spcAft>
              <a:buSzPct val="100000"/>
              <a:buChar char="•"/>
            </a:pPr>
            <a:r>
              <a:rPr lang="en-US" sz="1200" b="1" dirty="0">
                <a:solidFill>
                  <a:srgbClr val="0B7A8C"/>
                </a:solidFill>
                <a:latin typeface="Calibri" pitchFamily="34" charset="0"/>
                <a:ea typeface="Calibri" pitchFamily="34" charset="-122"/>
                <a:cs typeface="Calibri" pitchFamily="34" charset="-120"/>
              </a:rPr>
              <a:t>11 controls</a:t>
            </a:r>
            <a:endParaRPr lang="en-US" sz="1200" dirty="0"/>
          </a:p>
          <a:p>
            <a:pPr marL="0" indent="0" algn="l">
              <a:buNone/>
            </a:pPr>
            <a:r>
              <a:rPr lang="en-US" sz="900" i="1" dirty="0">
                <a:solidFill>
                  <a:srgbClr val="1A2040"/>
                </a:solidFill>
                <a:latin typeface="Calibri" pitchFamily="34" charset="0"/>
                <a:ea typeface="Calibri" pitchFamily="34" charset="-122"/>
                <a:cs typeface="Calibri" pitchFamily="34" charset="-120"/>
              </a:rPr>
              <a:t>WDigest, Kerberos AES, PS2, cmdline logging, script block logging, subcategories, Game DVR, Copilot, auto sign-in, IPv4/IPv6 source routing</a:t>
            </a:r>
            <a:endParaRPr lang="en-US" sz="900" dirty="0"/>
          </a:p>
        </p:txBody>
      </p:sp>
      <p:sp>
        <p:nvSpPr>
          <p:cNvPr id="12" name="Shape 10"/>
          <p:cNvSpPr/>
          <p:nvPr/>
        </p:nvSpPr>
        <p:spPr>
          <a:xfrm>
            <a:off x="3291840" y="1261872"/>
            <a:ext cx="2724912" cy="3639312"/>
          </a:xfrm>
          <a:prstGeom prst="rect">
            <a:avLst/>
          </a:prstGeom>
          <a:solidFill>
            <a:srgbClr val="FFF8EC"/>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291840" y="1261872"/>
            <a:ext cx="2724912" cy="502920"/>
          </a:xfrm>
          <a:prstGeom prst="rect">
            <a:avLst/>
          </a:prstGeom>
          <a:solidFill>
            <a:srgbClr val="B86E00"/>
          </a:solidFill>
          <a:ln w="12700">
            <a:solidFill>
              <a:srgbClr val="B86E00"/>
            </a:solidFill>
            <a:prstDash val="solid"/>
          </a:ln>
        </p:spPr>
        <p:txBody>
          <a:bodyPr/>
          <a:lstStyle/>
          <a:p>
            <a:endParaRPr lang="en-US"/>
          </a:p>
        </p:txBody>
      </p:sp>
      <p:sp>
        <p:nvSpPr>
          <p:cNvPr id="14" name="Text 12"/>
          <p:cNvSpPr/>
          <p:nvPr/>
        </p:nvSpPr>
        <p:spPr>
          <a:xfrm>
            <a:off x="3429000" y="1307592"/>
            <a:ext cx="2468880" cy="384048"/>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Tier 2</a:t>
            </a:r>
            <a:endParaRPr lang="en-US" sz="1800" dirty="0"/>
          </a:p>
        </p:txBody>
      </p:sp>
      <p:sp>
        <p:nvSpPr>
          <p:cNvPr id="15" name="Shape 13"/>
          <p:cNvSpPr/>
          <p:nvPr/>
        </p:nvSpPr>
        <p:spPr>
          <a:xfrm>
            <a:off x="3401568" y="1865376"/>
            <a:ext cx="2487168" cy="256032"/>
          </a:xfrm>
          <a:prstGeom prst="rect">
            <a:avLst/>
          </a:prstGeom>
          <a:solidFill>
            <a:srgbClr val="B86E00">
              <a:alpha val="15000"/>
            </a:srgbClr>
          </a:solidFill>
          <a:ln w="12700">
            <a:solidFill>
              <a:srgbClr val="B86E00"/>
            </a:solidFill>
            <a:prstDash val="solid"/>
          </a:ln>
        </p:spPr>
        <p:txBody>
          <a:bodyPr/>
          <a:lstStyle/>
          <a:p>
            <a:endParaRPr lang="en-US"/>
          </a:p>
        </p:txBody>
      </p:sp>
      <p:sp>
        <p:nvSpPr>
          <p:cNvPr id="16" name="Text 14"/>
          <p:cNvSpPr/>
          <p:nvPr/>
        </p:nvSpPr>
        <p:spPr>
          <a:xfrm>
            <a:off x="3401568" y="1865376"/>
            <a:ext cx="2487168" cy="256032"/>
          </a:xfrm>
          <a:prstGeom prst="rect">
            <a:avLst/>
          </a:prstGeom>
          <a:noFill/>
          <a:ln/>
        </p:spPr>
        <p:txBody>
          <a:bodyPr wrap="square" lIns="0" tIns="0" rIns="0" bIns="0" rtlCol="0" anchor="ctr"/>
          <a:lstStyle/>
          <a:p>
            <a:pPr marL="0" indent="0" algn="ctr">
              <a:buNone/>
            </a:pPr>
            <a:r>
              <a:rPr lang="en-US" sz="900" b="1" dirty="0">
                <a:solidFill>
                  <a:srgbClr val="B86E00"/>
                </a:solidFill>
                <a:latin typeface="Calibri" pitchFamily="34" charset="0"/>
                <a:ea typeface="Calibri" pitchFamily="34" charset="-122"/>
                <a:cs typeface="Calibri" pitchFamily="34" charset="-120"/>
              </a:rPr>
              <a:t>TESTING IN PROGRESS</a:t>
            </a:r>
            <a:endParaRPr lang="en-US" sz="900" dirty="0"/>
          </a:p>
        </p:txBody>
      </p:sp>
      <p:sp>
        <p:nvSpPr>
          <p:cNvPr id="17" name="Text 15"/>
          <p:cNvSpPr/>
          <p:nvPr/>
        </p:nvSpPr>
        <p:spPr>
          <a:xfrm>
            <a:off x="3456432" y="2231136"/>
            <a:ext cx="2377440" cy="2542032"/>
          </a:xfrm>
          <a:prstGeom prst="rect">
            <a:avLst/>
          </a:prstGeom>
          <a:noFill/>
          <a:ln/>
        </p:spPr>
        <p:txBody>
          <a:bodyPr wrap="square" lIns="0" tIns="0" rIns="0" bIns="0" rtlCol="0" anchor="t"/>
          <a:lstStyle/>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Moderate operational impact</a:t>
            </a:r>
            <a:endParaRPr lang="en-US" sz="1200" dirty="0"/>
          </a:p>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Requires structured batch testing</a:t>
            </a:r>
            <a:endParaRPr lang="en-US" sz="1200" dirty="0"/>
          </a:p>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Cross-team review in progress</a:t>
            </a:r>
            <a:endParaRPr lang="en-US" sz="1200" dirty="0"/>
          </a:p>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Deployment follows validation</a:t>
            </a:r>
            <a:endParaRPr lang="en-US" sz="1200" dirty="0"/>
          </a:p>
          <a:p>
            <a:pPr marL="342900" indent="-342900" algn="l">
              <a:spcAft>
                <a:spcPts val="700"/>
              </a:spcAft>
              <a:buSzPct val="100000"/>
              <a:buChar char="•"/>
            </a:pPr>
            <a:r>
              <a:rPr lang="en-US" sz="1200" b="1" dirty="0">
                <a:solidFill>
                  <a:srgbClr val="B86E00"/>
                </a:solidFill>
                <a:latin typeface="Calibri" pitchFamily="34" charset="0"/>
                <a:ea typeface="Calibri" pitchFamily="34" charset="-122"/>
                <a:cs typeface="Calibri" pitchFamily="34" charset="-120"/>
              </a:rPr>
              <a:t>16 controls</a:t>
            </a:r>
            <a:endParaRPr lang="en-US" sz="1200" dirty="0"/>
          </a:p>
          <a:p>
            <a:pPr marL="0" indent="0" algn="l">
              <a:buNone/>
            </a:pPr>
            <a:r>
              <a:rPr lang="en-US" sz="900" i="1" dirty="0">
                <a:solidFill>
                  <a:srgbClr val="1A2040"/>
                </a:solidFill>
                <a:latin typeface="Calibri" pitchFamily="34" charset="0"/>
                <a:ea typeface="Calibri" pitchFamily="34" charset="-122"/>
                <a:cs typeface="Calibri" pitchFamily="34" charset="-120"/>
              </a:rPr>
              <a:t>passwords, lockout, BitLocker baseline, Credential Guard, VBS/DMA, audit groups, telemetry, consumer UX, RDP/RPC, RDP creds/drive mapping</a:t>
            </a:r>
            <a:endParaRPr lang="en-US" sz="900" dirty="0"/>
          </a:p>
        </p:txBody>
      </p:sp>
      <p:sp>
        <p:nvSpPr>
          <p:cNvPr id="18" name="Shape 16"/>
          <p:cNvSpPr/>
          <p:nvPr/>
        </p:nvSpPr>
        <p:spPr>
          <a:xfrm>
            <a:off x="6236208" y="1261872"/>
            <a:ext cx="2724912" cy="3639312"/>
          </a:xfrm>
          <a:prstGeom prst="rect">
            <a:avLst/>
          </a:prstGeom>
          <a:solidFill>
            <a:srgbClr val="FAEAEA"/>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6236208" y="1261872"/>
            <a:ext cx="2724912" cy="502920"/>
          </a:xfrm>
          <a:prstGeom prst="rect">
            <a:avLst/>
          </a:prstGeom>
          <a:solidFill>
            <a:srgbClr val="9B2335"/>
          </a:solidFill>
          <a:ln w="12700">
            <a:solidFill>
              <a:srgbClr val="9B2335"/>
            </a:solidFill>
            <a:prstDash val="solid"/>
          </a:ln>
        </p:spPr>
        <p:txBody>
          <a:bodyPr/>
          <a:lstStyle/>
          <a:p>
            <a:endParaRPr lang="en-US"/>
          </a:p>
        </p:txBody>
      </p:sp>
      <p:sp>
        <p:nvSpPr>
          <p:cNvPr id="20" name="Text 18"/>
          <p:cNvSpPr/>
          <p:nvPr/>
        </p:nvSpPr>
        <p:spPr>
          <a:xfrm>
            <a:off x="6373368" y="1307592"/>
            <a:ext cx="2468880" cy="384048"/>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Tier 3</a:t>
            </a:r>
            <a:endParaRPr lang="en-US" sz="1800" dirty="0"/>
          </a:p>
        </p:txBody>
      </p:sp>
      <p:sp>
        <p:nvSpPr>
          <p:cNvPr id="21" name="Shape 19"/>
          <p:cNvSpPr/>
          <p:nvPr/>
        </p:nvSpPr>
        <p:spPr>
          <a:xfrm>
            <a:off x="6345936" y="1865376"/>
            <a:ext cx="2487168" cy="256032"/>
          </a:xfrm>
          <a:prstGeom prst="rect">
            <a:avLst/>
          </a:prstGeom>
          <a:solidFill>
            <a:srgbClr val="9B2335">
              <a:alpha val="15000"/>
            </a:srgbClr>
          </a:solidFill>
          <a:ln w="12700">
            <a:solidFill>
              <a:srgbClr val="9B2335"/>
            </a:solidFill>
            <a:prstDash val="solid"/>
          </a:ln>
        </p:spPr>
        <p:txBody>
          <a:bodyPr/>
          <a:lstStyle/>
          <a:p>
            <a:endParaRPr lang="en-US"/>
          </a:p>
        </p:txBody>
      </p:sp>
      <p:sp>
        <p:nvSpPr>
          <p:cNvPr id="22" name="Text 20"/>
          <p:cNvSpPr/>
          <p:nvPr/>
        </p:nvSpPr>
        <p:spPr>
          <a:xfrm>
            <a:off x="6345936" y="1865376"/>
            <a:ext cx="2487168" cy="256032"/>
          </a:xfrm>
          <a:prstGeom prst="rect">
            <a:avLst/>
          </a:prstGeom>
          <a:noFill/>
          <a:ln/>
        </p:spPr>
        <p:txBody>
          <a:bodyPr wrap="square" lIns="0" tIns="0" rIns="0" bIns="0" rtlCol="0" anchor="ctr"/>
          <a:lstStyle/>
          <a:p>
            <a:pPr marL="0" indent="0" algn="ctr">
              <a:buNone/>
            </a:pPr>
            <a:r>
              <a:rPr lang="en-US" sz="900" b="1" dirty="0">
                <a:solidFill>
                  <a:srgbClr val="9B2335"/>
                </a:solidFill>
                <a:latin typeface="Calibri" pitchFamily="34" charset="0"/>
                <a:ea typeface="Calibri" pitchFamily="34" charset="-122"/>
                <a:cs typeface="Calibri" pitchFamily="34" charset="-120"/>
              </a:rPr>
              <a:t>DEFERRED · ACCEPTED RISK</a:t>
            </a:r>
            <a:endParaRPr lang="en-US" sz="900" dirty="0"/>
          </a:p>
        </p:txBody>
      </p:sp>
      <p:sp>
        <p:nvSpPr>
          <p:cNvPr id="23" name="Text 21"/>
          <p:cNvSpPr/>
          <p:nvPr/>
        </p:nvSpPr>
        <p:spPr>
          <a:xfrm>
            <a:off x="6400800" y="2231136"/>
            <a:ext cx="2377440" cy="2542032"/>
          </a:xfrm>
          <a:prstGeom prst="rect">
            <a:avLst/>
          </a:prstGeom>
          <a:noFill/>
          <a:ln/>
        </p:spPr>
        <p:txBody>
          <a:bodyPr wrap="square" lIns="0" tIns="0" rIns="0" bIns="0" rtlCol="0" anchor="t"/>
          <a:lstStyle/>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Higher operational risk if applied</a:t>
            </a:r>
            <a:endParaRPr lang="en-US" sz="1200" dirty="0"/>
          </a:p>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Requires cross-team alignment</a:t>
            </a:r>
            <a:endParaRPr lang="en-US" sz="1200" dirty="0"/>
          </a:p>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Excluded from current scope</a:t>
            </a:r>
            <a:endParaRPr lang="en-US" sz="1200" dirty="0"/>
          </a:p>
          <a:p>
            <a:pPr marL="342900" indent="-342900" algn="l">
              <a:spcAft>
                <a:spcPts val="700"/>
              </a:spcAft>
              <a:buSzPct val="100000"/>
              <a:buChar char="•"/>
            </a:pPr>
            <a:r>
              <a:rPr lang="en-US" sz="1200" dirty="0">
                <a:solidFill>
                  <a:srgbClr val="1A2040"/>
                </a:solidFill>
                <a:latin typeface="Calibri" pitchFamily="34" charset="0"/>
                <a:ea typeface="Calibri" pitchFamily="34" charset="-122"/>
                <a:cs typeface="Calibri" pitchFamily="34" charset="-120"/>
              </a:rPr>
              <a:t>Risk formally accepted and documented</a:t>
            </a:r>
            <a:endParaRPr lang="en-US" sz="1200" dirty="0"/>
          </a:p>
          <a:p>
            <a:pPr marL="342900" indent="-342900" algn="l">
              <a:spcAft>
                <a:spcPts val="700"/>
              </a:spcAft>
              <a:buSzPct val="100000"/>
              <a:buChar char="•"/>
            </a:pPr>
            <a:r>
              <a:rPr lang="en-US" sz="1200" b="1" dirty="0">
                <a:solidFill>
                  <a:srgbClr val="9B2335"/>
                </a:solidFill>
                <a:latin typeface="Calibri" pitchFamily="34" charset="0"/>
                <a:ea typeface="Calibri" pitchFamily="34" charset="-122"/>
                <a:cs typeface="Calibri" pitchFamily="34" charset="-120"/>
              </a:rPr>
              <a:t>8 controls</a:t>
            </a:r>
            <a:endParaRPr lang="en-US" sz="1200" dirty="0"/>
          </a:p>
          <a:p>
            <a:pPr marL="0" indent="0" algn="l">
              <a:buNone/>
            </a:pPr>
            <a:r>
              <a:rPr lang="en-US" sz="900" i="1" dirty="0">
                <a:solidFill>
                  <a:srgbClr val="1A2040"/>
                </a:solidFill>
                <a:latin typeface="Calibri" pitchFamily="34" charset="0"/>
                <a:ea typeface="Calibri" pitchFamily="34" charset="-122"/>
                <a:cs typeface="Calibri" pitchFamily="34" charset="-120"/>
              </a:rPr>
              <a:t>FIPS, NTLM/SMB, UAC auto-deny, inactivity lock, BitLocker PIN, deny logon, Bluetooth</a:t>
            </a:r>
            <a:endParaRPr lang="en-US" sz="900" dirty="0"/>
          </a:p>
        </p:txBody>
      </p:sp>
      <p:sp>
        <p:nvSpPr>
          <p:cNvPr id="24" name="Shape 22"/>
          <p:cNvSpPr/>
          <p:nvPr/>
        </p:nvSpPr>
        <p:spPr>
          <a:xfrm>
            <a:off x="347472" y="4736592"/>
            <a:ext cx="8430768" cy="274320"/>
          </a:xfrm>
          <a:prstGeom prst="rect">
            <a:avLst/>
          </a:prstGeom>
          <a:solidFill>
            <a:srgbClr val="D6E4F7"/>
          </a:solidFill>
          <a:ln w="12700">
            <a:solidFill>
              <a:srgbClr val="B0C8E8"/>
            </a:solidFill>
            <a:prstDash val="solid"/>
          </a:ln>
        </p:spPr>
        <p:txBody>
          <a:bodyPr/>
          <a:lstStyle/>
          <a:p>
            <a:endParaRPr lang="en-US"/>
          </a:p>
        </p:txBody>
      </p:sp>
      <p:sp>
        <p:nvSpPr>
          <p:cNvPr id="25" name="Text 23"/>
          <p:cNvSpPr/>
          <p:nvPr/>
        </p:nvSpPr>
        <p:spPr>
          <a:xfrm>
            <a:off x="502920" y="4736592"/>
            <a:ext cx="8229600" cy="274320"/>
          </a:xfrm>
          <a:prstGeom prst="rect">
            <a:avLst/>
          </a:prstGeom>
          <a:noFill/>
          <a:ln/>
        </p:spPr>
        <p:txBody>
          <a:bodyPr wrap="square" lIns="0" tIns="0" rIns="0" bIns="0" rtlCol="0" anchor="ctr"/>
          <a:lstStyle/>
          <a:p>
            <a:pPr marL="0" indent="0" algn="ctr">
              <a:buNone/>
            </a:pPr>
            <a:r>
              <a:rPr lang="en-US" sz="1000" i="1" dirty="0">
                <a:solidFill>
                  <a:srgbClr val="5F6B7C"/>
                </a:solidFill>
                <a:latin typeface="Calibri" pitchFamily="34" charset="0"/>
                <a:ea typeface="Calibri" pitchFamily="34" charset="-122"/>
                <a:cs typeface="Calibri" pitchFamily="34" charset="-120"/>
              </a:rPr>
              <a:t>Tier 3 exclusions: User Rights lockdown · Secondary Logon disable · AppLocker · SMB Packet Signing · Hardened UNC Paths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Testing Comparison: Two Device Strategy</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Full STIG application vs. tiered selection model</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6" name="Shape 4"/>
          <p:cNvSpPr/>
          <p:nvPr/>
        </p:nvSpPr>
        <p:spPr>
          <a:xfrm>
            <a:off x="347472" y="1261872"/>
            <a:ext cx="3977640" cy="356616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47472" y="1261872"/>
            <a:ext cx="3977640" cy="438912"/>
          </a:xfrm>
          <a:prstGeom prst="rect">
            <a:avLst/>
          </a:prstGeom>
          <a:solidFill>
            <a:srgbClr val="9B2335"/>
          </a:solidFill>
          <a:ln w="12700">
            <a:solidFill>
              <a:srgbClr val="9B2335"/>
            </a:solidFill>
            <a:prstDash val="solid"/>
          </a:ln>
        </p:spPr>
        <p:txBody>
          <a:bodyPr/>
          <a:lstStyle/>
          <a:p>
            <a:endParaRPr lang="en-US"/>
          </a:p>
        </p:txBody>
      </p:sp>
      <p:sp>
        <p:nvSpPr>
          <p:cNvPr id="8" name="Text 6"/>
          <p:cNvSpPr/>
          <p:nvPr/>
        </p:nvSpPr>
        <p:spPr>
          <a:xfrm>
            <a:off x="502920" y="1298448"/>
            <a:ext cx="3657600"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Device A – Full STIG Application</a:t>
            </a:r>
            <a:endParaRPr lang="en-US" sz="1400" dirty="0"/>
          </a:p>
        </p:txBody>
      </p:sp>
      <p:sp>
        <p:nvSpPr>
          <p:cNvPr id="9" name="Text 7"/>
          <p:cNvSpPr/>
          <p:nvPr/>
        </p:nvSpPr>
        <p:spPr>
          <a:xfrm>
            <a:off x="502920" y="1828800"/>
            <a:ext cx="3657600" cy="2743200"/>
          </a:xfrm>
          <a:prstGeom prst="rect">
            <a:avLst/>
          </a:prstGeom>
          <a:noFill/>
          <a:ln/>
        </p:spPr>
        <p:txBody>
          <a:bodyPr wrap="square" lIns="0" tIns="0" rIns="0" bIns="0" rtlCol="0" anchor="t"/>
          <a:lstStyle/>
          <a:p>
            <a:pPr marL="342900" indent="-342900" algn="l">
              <a:spcAft>
                <a:spcPts val="600"/>
              </a:spcAft>
              <a:buSzPct val="100000"/>
              <a:buChar char="•"/>
            </a:pPr>
            <a:r>
              <a:rPr lang="en-US" sz="1300" dirty="0">
                <a:solidFill>
                  <a:srgbClr val="1A2040"/>
                </a:solidFill>
                <a:latin typeface="Calibri" pitchFamily="34" charset="0"/>
                <a:ea typeface="Calibri" pitchFamily="34" charset="-122"/>
                <a:cs typeface="Calibri" pitchFamily="34" charset="-120"/>
              </a:rPr>
              <a:t>All LGPO / STIG recommendations applied</a:t>
            </a:r>
            <a:endParaRPr lang="en-US" sz="1300" dirty="0"/>
          </a:p>
          <a:p>
            <a:pPr marL="342900" indent="-342900" algn="l">
              <a:spcAft>
                <a:spcPts val="600"/>
              </a:spcAft>
              <a:buSzPct val="100000"/>
              <a:buChar char="•"/>
            </a:pPr>
            <a:r>
              <a:rPr lang="en-US" sz="1300" dirty="0">
                <a:solidFill>
                  <a:srgbClr val="1A2040"/>
                </a:solidFill>
                <a:latin typeface="Calibri" pitchFamily="34" charset="0"/>
                <a:ea typeface="Calibri" pitchFamily="34" charset="-122"/>
                <a:cs typeface="Calibri" pitchFamily="34" charset="-120"/>
              </a:rPr>
              <a:t>Compliance increased to ~88%</a:t>
            </a:r>
            <a:endParaRPr lang="en-US" sz="1300" dirty="0"/>
          </a:p>
          <a:p>
            <a:pPr marL="342900" indent="-342900" algn="l">
              <a:spcAft>
                <a:spcPts val="600"/>
              </a:spcAft>
              <a:buSzPct val="100000"/>
              <a:buChar char="•"/>
            </a:pPr>
            <a:r>
              <a:rPr lang="en-US" sz="1300" dirty="0">
                <a:solidFill>
                  <a:srgbClr val="9B2335"/>
                </a:solidFill>
                <a:latin typeface="Calibri" pitchFamily="34" charset="0"/>
                <a:ea typeface="Calibri" pitchFamily="34" charset="-122"/>
                <a:cs typeface="Calibri" pitchFamily="34" charset="-120"/>
              </a:rPr>
              <a:t>Remote access tools impacted</a:t>
            </a:r>
            <a:endParaRPr lang="en-US" sz="1300" dirty="0"/>
          </a:p>
          <a:p>
            <a:pPr marL="342900" indent="-342900" algn="l">
              <a:spcAft>
                <a:spcPts val="600"/>
              </a:spcAft>
              <a:buSzPct val="100000"/>
              <a:buChar char="•"/>
            </a:pPr>
            <a:r>
              <a:rPr lang="en-US" sz="1300" dirty="0">
                <a:solidFill>
                  <a:srgbClr val="9B2335"/>
                </a:solidFill>
                <a:latin typeface="Calibri" pitchFamily="34" charset="0"/>
                <a:ea typeface="Calibri" pitchFamily="34" charset="-122"/>
                <a:cs typeface="Calibri" pitchFamily="34" charset="-120"/>
              </a:rPr>
              <a:t>IT support workflows disrupted</a:t>
            </a:r>
            <a:endParaRPr lang="en-US" sz="1300" dirty="0"/>
          </a:p>
          <a:p>
            <a:pPr marL="342900" indent="-342900" algn="l">
              <a:spcAft>
                <a:spcPts val="600"/>
              </a:spcAft>
              <a:buSzPct val="100000"/>
              <a:buChar char="•"/>
            </a:pPr>
            <a:r>
              <a:rPr lang="en-US" sz="1300" dirty="0">
                <a:solidFill>
                  <a:srgbClr val="9B2335"/>
                </a:solidFill>
                <a:latin typeface="Calibri" pitchFamily="34" charset="0"/>
                <a:ea typeface="Calibri" pitchFamily="34" charset="-122"/>
                <a:cs typeface="Calibri" pitchFamily="34" charset="-120"/>
              </a:rPr>
              <a:t>Device became unstable</a:t>
            </a:r>
            <a:endParaRPr lang="en-US" sz="1300" dirty="0"/>
          </a:p>
          <a:p>
            <a:pPr marL="342900" indent="-342900" algn="l">
              <a:spcAft>
                <a:spcPts val="600"/>
              </a:spcAft>
              <a:buSzPct val="100000"/>
              <a:buChar char="•"/>
            </a:pPr>
            <a:r>
              <a:rPr lang="en-US" sz="1300" b="1" dirty="0">
                <a:solidFill>
                  <a:srgbClr val="9B2335"/>
                </a:solidFill>
                <a:latin typeface="Calibri" pitchFamily="34" charset="0"/>
                <a:ea typeface="Calibri" pitchFamily="34" charset="-122"/>
                <a:cs typeface="Calibri" pitchFamily="34" charset="-120"/>
              </a:rPr>
              <a:t>Not production-ready</a:t>
            </a:r>
            <a:endParaRPr lang="en-US" sz="1300" dirty="0"/>
          </a:p>
        </p:txBody>
      </p:sp>
      <p:sp>
        <p:nvSpPr>
          <p:cNvPr id="10" name="Shape 8"/>
          <p:cNvSpPr/>
          <p:nvPr/>
        </p:nvSpPr>
        <p:spPr>
          <a:xfrm>
            <a:off x="4818888" y="1261872"/>
            <a:ext cx="3977640" cy="356616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4818888" y="1261872"/>
            <a:ext cx="3977640" cy="438912"/>
          </a:xfrm>
          <a:prstGeom prst="rect">
            <a:avLst/>
          </a:prstGeom>
          <a:solidFill>
            <a:srgbClr val="1B7A4C"/>
          </a:solidFill>
          <a:ln w="12700">
            <a:solidFill>
              <a:srgbClr val="1B7A4C"/>
            </a:solidFill>
            <a:prstDash val="solid"/>
          </a:ln>
        </p:spPr>
        <p:txBody>
          <a:bodyPr/>
          <a:lstStyle/>
          <a:p>
            <a:endParaRPr lang="en-US"/>
          </a:p>
        </p:txBody>
      </p:sp>
      <p:sp>
        <p:nvSpPr>
          <p:cNvPr id="12" name="Text 10"/>
          <p:cNvSpPr/>
          <p:nvPr/>
        </p:nvSpPr>
        <p:spPr>
          <a:xfrm>
            <a:off x="4974336" y="1298448"/>
            <a:ext cx="3657600"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Device B – Tiered Selection Model</a:t>
            </a:r>
            <a:endParaRPr lang="en-US" sz="1400" dirty="0"/>
          </a:p>
        </p:txBody>
      </p:sp>
      <p:sp>
        <p:nvSpPr>
          <p:cNvPr id="13" name="Text 11"/>
          <p:cNvSpPr/>
          <p:nvPr/>
        </p:nvSpPr>
        <p:spPr>
          <a:xfrm>
            <a:off x="4974336" y="1828800"/>
            <a:ext cx="3657600" cy="2743200"/>
          </a:xfrm>
          <a:prstGeom prst="rect">
            <a:avLst/>
          </a:prstGeom>
          <a:noFill/>
          <a:ln/>
        </p:spPr>
        <p:txBody>
          <a:bodyPr wrap="square" lIns="0" tIns="0" rIns="0" bIns="0" rtlCol="0" anchor="t"/>
          <a:lstStyle/>
          <a:p>
            <a:pPr marL="342900" indent="-342900" algn="l">
              <a:spcAft>
                <a:spcPts val="600"/>
              </a:spcAft>
              <a:buSzPct val="100000"/>
              <a:buChar char="•"/>
            </a:pPr>
            <a:r>
              <a:rPr lang="en-US" sz="1300" dirty="0">
                <a:solidFill>
                  <a:srgbClr val="1A2040"/>
                </a:solidFill>
                <a:latin typeface="Calibri" pitchFamily="34" charset="0"/>
                <a:ea typeface="Calibri" pitchFamily="34" charset="-122"/>
                <a:cs typeface="Calibri" pitchFamily="34" charset="-120"/>
              </a:rPr>
              <a:t>35 selected controls applied</a:t>
            </a:r>
            <a:endParaRPr lang="en-US" sz="1300" dirty="0"/>
          </a:p>
          <a:p>
            <a:pPr marL="342900" indent="-342900" algn="l">
              <a:spcAft>
                <a:spcPts val="600"/>
              </a:spcAft>
              <a:buSzPct val="100000"/>
              <a:buChar char="•"/>
            </a:pPr>
            <a:r>
              <a:rPr lang="en-US" sz="1300" dirty="0">
                <a:solidFill>
                  <a:srgbClr val="1A2040"/>
                </a:solidFill>
                <a:latin typeface="Calibri" pitchFamily="34" charset="0"/>
                <a:ea typeface="Calibri" pitchFamily="34" charset="-122"/>
                <a:cs typeface="Calibri" pitchFamily="34" charset="-120"/>
              </a:rPr>
              <a:t>Compliance at ~42–45%</a:t>
            </a:r>
            <a:endParaRPr lang="en-US" sz="1300" dirty="0"/>
          </a:p>
          <a:p>
            <a:pPr marL="342900" indent="-342900" algn="l">
              <a:spcAft>
                <a:spcPts val="600"/>
              </a:spcAft>
              <a:buSzPct val="100000"/>
              <a:buChar char="•"/>
            </a:pPr>
            <a:r>
              <a:rPr lang="en-US" sz="1300" dirty="0">
                <a:solidFill>
                  <a:srgbClr val="1B7A4C"/>
                </a:solidFill>
                <a:latin typeface="Calibri" pitchFamily="34" charset="0"/>
                <a:ea typeface="Calibri" pitchFamily="34" charset="-122"/>
                <a:cs typeface="Calibri" pitchFamily="34" charset="-120"/>
              </a:rPr>
              <a:t>Remote access fully functional</a:t>
            </a:r>
            <a:endParaRPr lang="en-US" sz="1300" dirty="0"/>
          </a:p>
          <a:p>
            <a:pPr marL="342900" indent="-342900" algn="l">
              <a:spcAft>
                <a:spcPts val="600"/>
              </a:spcAft>
              <a:buSzPct val="100000"/>
              <a:buChar char="•"/>
            </a:pPr>
            <a:r>
              <a:rPr lang="en-US" sz="1300" dirty="0">
                <a:solidFill>
                  <a:srgbClr val="1B7A4C"/>
                </a:solidFill>
                <a:latin typeface="Calibri" pitchFamily="34" charset="0"/>
                <a:ea typeface="Calibri" pitchFamily="34" charset="-122"/>
                <a:cs typeface="Calibri" pitchFamily="34" charset="-120"/>
              </a:rPr>
              <a:t>IT support tools working normally</a:t>
            </a:r>
            <a:endParaRPr lang="en-US" sz="1300" dirty="0"/>
          </a:p>
          <a:p>
            <a:pPr marL="342900" indent="-342900" algn="l">
              <a:spcAft>
                <a:spcPts val="600"/>
              </a:spcAft>
              <a:buSzPct val="100000"/>
              <a:buChar char="•"/>
            </a:pPr>
            <a:r>
              <a:rPr lang="en-US" sz="1300" dirty="0">
                <a:solidFill>
                  <a:srgbClr val="1B7A4C"/>
                </a:solidFill>
                <a:latin typeface="Calibri" pitchFamily="34" charset="0"/>
                <a:ea typeface="Calibri" pitchFamily="34" charset="-122"/>
                <a:cs typeface="Calibri" pitchFamily="34" charset="-120"/>
              </a:rPr>
              <a:t>Device remained stable throughout</a:t>
            </a:r>
            <a:endParaRPr lang="en-US" sz="1300" dirty="0"/>
          </a:p>
          <a:p>
            <a:pPr marL="342900" indent="-342900" algn="l">
              <a:spcAft>
                <a:spcPts val="600"/>
              </a:spcAft>
              <a:buSzPct val="100000"/>
              <a:buChar char="•"/>
            </a:pPr>
            <a:r>
              <a:rPr lang="en-US" sz="1300" b="1" dirty="0">
                <a:solidFill>
                  <a:srgbClr val="1B7A4C"/>
                </a:solidFill>
                <a:latin typeface="Calibri" pitchFamily="34" charset="0"/>
                <a:ea typeface="Calibri" pitchFamily="34" charset="-122"/>
                <a:cs typeface="Calibri" pitchFamily="34" charset="-120"/>
              </a:rPr>
              <a:t>Ready for controlled pilot rollout</a:t>
            </a:r>
            <a:endParaRPr lang="en-US" sz="1300" dirty="0"/>
          </a:p>
        </p:txBody>
      </p:sp>
      <p:sp>
        <p:nvSpPr>
          <p:cNvPr id="14" name="Shape 12"/>
          <p:cNvSpPr/>
          <p:nvPr/>
        </p:nvSpPr>
        <p:spPr>
          <a:xfrm>
            <a:off x="347472" y="4736592"/>
            <a:ext cx="8430768" cy="274320"/>
          </a:xfrm>
          <a:prstGeom prst="rect">
            <a:avLst/>
          </a:prstGeom>
          <a:solidFill>
            <a:srgbClr val="1A2B5E"/>
          </a:solidFill>
          <a:ln w="12700">
            <a:solidFill>
              <a:srgbClr val="1A2B5E"/>
            </a:solidFill>
            <a:prstDash val="solid"/>
          </a:ln>
        </p:spPr>
        <p:txBody>
          <a:bodyPr/>
          <a:lstStyle/>
          <a:p>
            <a:endParaRPr lang="en-US"/>
          </a:p>
        </p:txBody>
      </p:sp>
      <p:sp>
        <p:nvSpPr>
          <p:cNvPr id="15" name="Text 13"/>
          <p:cNvSpPr/>
          <p:nvPr/>
        </p:nvSpPr>
        <p:spPr>
          <a:xfrm>
            <a:off x="502920" y="4736592"/>
            <a:ext cx="8229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High compliance alone does not equal operational success.  Stability is not optional.</a:t>
            </a:r>
            <a:endParaRPr lang="en-US" sz="1100" dirty="0"/>
          </a:p>
        </p:txBody>
      </p:sp>
      <p:pic>
        <p:nvPicPr>
          <p:cNvPr id="17" name="Picture 16">
            <a:extLst>
              <a:ext uri="{FF2B5EF4-FFF2-40B4-BE49-F238E27FC236}">
                <a16:creationId xmlns:a16="http://schemas.microsoft.com/office/drawing/2014/main" id="{C0BAB83A-DFC1-E9D5-CAE7-91DFC453C58D}"/>
              </a:ext>
            </a:extLst>
          </p:cNvPr>
          <p:cNvPicPr>
            <a:picLocks noChangeAspect="1"/>
          </p:cNvPicPr>
          <p:nvPr/>
        </p:nvPicPr>
        <p:blipFill>
          <a:blip r:embed="rId3"/>
          <a:srcRect l="246" r="-246" b="61661"/>
          <a:stretch>
            <a:fillRect/>
          </a:stretch>
        </p:blipFill>
        <p:spPr>
          <a:xfrm>
            <a:off x="4818888" y="3392773"/>
            <a:ext cx="3721881" cy="1288955"/>
          </a:xfrm>
          <a:prstGeom prst="rect">
            <a:avLst/>
          </a:prstGeom>
        </p:spPr>
      </p:pic>
      <p:pic>
        <p:nvPicPr>
          <p:cNvPr id="19" name="Picture 18">
            <a:extLst>
              <a:ext uri="{FF2B5EF4-FFF2-40B4-BE49-F238E27FC236}">
                <a16:creationId xmlns:a16="http://schemas.microsoft.com/office/drawing/2014/main" id="{2BD6776B-17E4-D4FC-43D0-A6EC9A7D53C9}"/>
              </a:ext>
            </a:extLst>
          </p:cNvPr>
          <p:cNvPicPr>
            <a:picLocks noChangeAspect="1"/>
          </p:cNvPicPr>
          <p:nvPr/>
        </p:nvPicPr>
        <p:blipFill>
          <a:blip r:embed="rId4"/>
          <a:srcRect r="2168" b="38057"/>
          <a:stretch>
            <a:fillRect/>
          </a:stretch>
        </p:blipFill>
        <p:spPr>
          <a:xfrm>
            <a:off x="411480" y="3405819"/>
            <a:ext cx="3749040" cy="12576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Example Control: PowerShell Script Block Logging</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Tier 1  ·  Low User Impact  ·  High Visibility Value</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6" name="Shape 4"/>
          <p:cNvSpPr/>
          <p:nvPr/>
        </p:nvSpPr>
        <p:spPr>
          <a:xfrm>
            <a:off x="347472" y="1280160"/>
            <a:ext cx="5120640" cy="502920"/>
          </a:xfrm>
          <a:prstGeom prst="rect">
            <a:avLst/>
          </a:prstGeom>
          <a:solidFill>
            <a:srgbClr val="FFFFFF"/>
          </a:solidFill>
          <a:ln w="12700">
            <a:solidFill>
              <a:srgbClr val="E0E8F4"/>
            </a:solidFill>
            <a:prstDash val="solid"/>
          </a:ln>
        </p:spPr>
        <p:txBody>
          <a:bodyPr/>
          <a:lstStyle/>
          <a:p>
            <a:endParaRPr lang="en-US"/>
          </a:p>
        </p:txBody>
      </p:sp>
      <p:sp>
        <p:nvSpPr>
          <p:cNvPr id="7" name="Text 5"/>
          <p:cNvSpPr/>
          <p:nvPr/>
        </p:nvSpPr>
        <p:spPr>
          <a:xfrm>
            <a:off x="475488" y="1335024"/>
            <a:ext cx="1371600" cy="384048"/>
          </a:xfrm>
          <a:prstGeom prst="rect">
            <a:avLst/>
          </a:prstGeom>
          <a:noFill/>
          <a:ln/>
        </p:spPr>
        <p:txBody>
          <a:bodyPr wrap="square" lIns="0" tIns="0" rIns="0" bIns="0" rtlCol="0" anchor="ctr"/>
          <a:lstStyle/>
          <a:p>
            <a:pPr marL="0" indent="0" algn="l">
              <a:buNone/>
            </a:pPr>
            <a:r>
              <a:rPr lang="en-US" sz="1100" b="1" dirty="0">
                <a:solidFill>
                  <a:srgbClr val="0B7A8C"/>
                </a:solidFill>
                <a:latin typeface="Calibri" pitchFamily="34" charset="0"/>
                <a:ea typeface="Calibri" pitchFamily="34" charset="-122"/>
                <a:cs typeface="Calibri" pitchFamily="34" charset="-120"/>
              </a:rPr>
              <a:t>STIG ID</a:t>
            </a:r>
            <a:endParaRPr lang="en-US" sz="1100" dirty="0"/>
          </a:p>
        </p:txBody>
      </p:sp>
      <p:sp>
        <p:nvSpPr>
          <p:cNvPr id="8" name="Text 6"/>
          <p:cNvSpPr/>
          <p:nvPr/>
        </p:nvSpPr>
        <p:spPr>
          <a:xfrm>
            <a:off x="1874520" y="1335024"/>
            <a:ext cx="3474720" cy="384048"/>
          </a:xfrm>
          <a:prstGeom prst="rect">
            <a:avLst/>
          </a:prstGeom>
          <a:noFill/>
          <a:ln/>
        </p:spPr>
        <p:txBody>
          <a:bodyPr wrap="square" lIns="0" tIns="0" rIns="0" bIns="0" rtlCol="0" anchor="ctr"/>
          <a:lstStyle/>
          <a:p>
            <a:r>
              <a:rPr lang="en-US" sz="1100" dirty="0">
                <a:solidFill>
                  <a:srgbClr val="1A2040"/>
                </a:solidFill>
                <a:latin typeface="Calibri" pitchFamily="34" charset="0"/>
                <a:ea typeface="Calibri" pitchFamily="34" charset="-122"/>
                <a:cs typeface="Calibri" pitchFamily="34" charset="-120"/>
              </a:rPr>
              <a:t>V-253414</a:t>
            </a:r>
            <a:endParaRPr lang="en-US" sz="1100" dirty="0"/>
          </a:p>
        </p:txBody>
      </p:sp>
      <p:sp>
        <p:nvSpPr>
          <p:cNvPr id="9" name="Shape 7"/>
          <p:cNvSpPr/>
          <p:nvPr/>
        </p:nvSpPr>
        <p:spPr>
          <a:xfrm>
            <a:off x="347472" y="1847088"/>
            <a:ext cx="5120640" cy="502920"/>
          </a:xfrm>
          <a:prstGeom prst="rect">
            <a:avLst/>
          </a:prstGeom>
          <a:solidFill>
            <a:srgbClr val="F4F7FB"/>
          </a:solidFill>
          <a:ln w="12700">
            <a:solidFill>
              <a:srgbClr val="E0E8F4"/>
            </a:solidFill>
            <a:prstDash val="solid"/>
          </a:ln>
        </p:spPr>
        <p:txBody>
          <a:bodyPr/>
          <a:lstStyle/>
          <a:p>
            <a:endParaRPr lang="en-US"/>
          </a:p>
        </p:txBody>
      </p:sp>
      <p:sp>
        <p:nvSpPr>
          <p:cNvPr id="10" name="Text 8"/>
          <p:cNvSpPr/>
          <p:nvPr/>
        </p:nvSpPr>
        <p:spPr>
          <a:xfrm>
            <a:off x="475488" y="1901952"/>
            <a:ext cx="1371600" cy="384048"/>
          </a:xfrm>
          <a:prstGeom prst="rect">
            <a:avLst/>
          </a:prstGeom>
          <a:noFill/>
          <a:ln/>
        </p:spPr>
        <p:txBody>
          <a:bodyPr wrap="square" lIns="0" tIns="0" rIns="0" bIns="0" rtlCol="0" anchor="ctr"/>
          <a:lstStyle/>
          <a:p>
            <a:pPr marL="0" indent="0" algn="l">
              <a:buNone/>
            </a:pPr>
            <a:r>
              <a:rPr lang="en-US" sz="1100" b="1" dirty="0">
                <a:solidFill>
                  <a:srgbClr val="0B7A8C"/>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1874520" y="1901952"/>
            <a:ext cx="3474720" cy="384048"/>
          </a:xfrm>
          <a:prstGeom prst="rect">
            <a:avLst/>
          </a:prstGeom>
          <a:noFill/>
          <a:ln/>
        </p:spPr>
        <p:txBody>
          <a:bodyPr wrap="square" lIns="0" tIns="0" rIns="0" bIns="0" rtlCol="0" anchor="ctr"/>
          <a:lstStyle/>
          <a:p>
            <a:pPr marL="0" indent="0" algn="l">
              <a:buNone/>
            </a:pPr>
            <a:r>
              <a:rPr lang="en-US" sz="1100" dirty="0">
                <a:solidFill>
                  <a:srgbClr val="1A2040"/>
                </a:solidFill>
                <a:latin typeface="Calibri" pitchFamily="34" charset="0"/>
                <a:ea typeface="Calibri" pitchFamily="34" charset="-122"/>
                <a:cs typeface="Calibri" pitchFamily="34" charset="-120"/>
              </a:rPr>
              <a:t>Logs every PowerShell command executed on the device to the Windows Event Log</a:t>
            </a:r>
            <a:endParaRPr lang="en-US" sz="1100" dirty="0"/>
          </a:p>
        </p:txBody>
      </p:sp>
      <p:sp>
        <p:nvSpPr>
          <p:cNvPr id="12" name="Shape 10"/>
          <p:cNvSpPr/>
          <p:nvPr/>
        </p:nvSpPr>
        <p:spPr>
          <a:xfrm>
            <a:off x="347472" y="2414016"/>
            <a:ext cx="5120640" cy="502920"/>
          </a:xfrm>
          <a:prstGeom prst="rect">
            <a:avLst/>
          </a:prstGeom>
          <a:solidFill>
            <a:srgbClr val="FFFFFF"/>
          </a:solidFill>
          <a:ln w="12700">
            <a:solidFill>
              <a:srgbClr val="E0E8F4"/>
            </a:solidFill>
            <a:prstDash val="solid"/>
          </a:ln>
        </p:spPr>
        <p:txBody>
          <a:bodyPr/>
          <a:lstStyle/>
          <a:p>
            <a:endParaRPr lang="en-US"/>
          </a:p>
        </p:txBody>
      </p:sp>
      <p:sp>
        <p:nvSpPr>
          <p:cNvPr id="13" name="Text 11"/>
          <p:cNvSpPr/>
          <p:nvPr/>
        </p:nvSpPr>
        <p:spPr>
          <a:xfrm>
            <a:off x="475488" y="2468880"/>
            <a:ext cx="1371600" cy="384048"/>
          </a:xfrm>
          <a:prstGeom prst="rect">
            <a:avLst/>
          </a:prstGeom>
          <a:noFill/>
          <a:ln/>
        </p:spPr>
        <p:txBody>
          <a:bodyPr wrap="square" lIns="0" tIns="0" rIns="0" bIns="0" rtlCol="0" anchor="ctr"/>
          <a:lstStyle/>
          <a:p>
            <a:pPr marL="0" indent="0" algn="l">
              <a:buNone/>
            </a:pPr>
            <a:r>
              <a:rPr lang="en-US" sz="1100" b="1" dirty="0">
                <a:solidFill>
                  <a:srgbClr val="0B7A8C"/>
                </a:solidFill>
                <a:latin typeface="Calibri" pitchFamily="34" charset="0"/>
                <a:ea typeface="Calibri" pitchFamily="34" charset="-122"/>
                <a:cs typeface="Calibri" pitchFamily="34" charset="-120"/>
              </a:rPr>
              <a:t>Why it matters</a:t>
            </a:r>
            <a:endParaRPr lang="en-US" sz="1100" dirty="0"/>
          </a:p>
        </p:txBody>
      </p:sp>
      <p:sp>
        <p:nvSpPr>
          <p:cNvPr id="14" name="Text 12"/>
          <p:cNvSpPr/>
          <p:nvPr/>
        </p:nvSpPr>
        <p:spPr>
          <a:xfrm>
            <a:off x="1874520" y="2468880"/>
            <a:ext cx="3474720" cy="384048"/>
          </a:xfrm>
          <a:prstGeom prst="rect">
            <a:avLst/>
          </a:prstGeom>
          <a:noFill/>
          <a:ln/>
        </p:spPr>
        <p:txBody>
          <a:bodyPr wrap="square" lIns="0" tIns="0" rIns="0" bIns="0" rtlCol="0" anchor="ctr"/>
          <a:lstStyle/>
          <a:p>
            <a:pPr marL="0" indent="0" algn="l">
              <a:buNone/>
            </a:pPr>
            <a:r>
              <a:rPr lang="en-US" sz="1100" dirty="0">
                <a:solidFill>
                  <a:srgbClr val="1A2040"/>
                </a:solidFill>
                <a:latin typeface="Calibri" pitchFamily="34" charset="0"/>
                <a:ea typeface="Calibri" pitchFamily="34" charset="-122"/>
                <a:cs typeface="Calibri" pitchFamily="34" charset="-120"/>
              </a:rPr>
              <a:t>Provides visibility into malicious or suspicious scripts — critical for incident investigation and audit trails</a:t>
            </a:r>
            <a:endParaRPr lang="en-US" sz="1100" dirty="0"/>
          </a:p>
        </p:txBody>
      </p:sp>
      <p:sp>
        <p:nvSpPr>
          <p:cNvPr id="15" name="Shape 13"/>
          <p:cNvSpPr/>
          <p:nvPr/>
        </p:nvSpPr>
        <p:spPr>
          <a:xfrm>
            <a:off x="347472" y="2980944"/>
            <a:ext cx="5120640" cy="502920"/>
          </a:xfrm>
          <a:prstGeom prst="rect">
            <a:avLst/>
          </a:prstGeom>
          <a:solidFill>
            <a:srgbClr val="F4F7FB"/>
          </a:solidFill>
          <a:ln w="12700">
            <a:solidFill>
              <a:srgbClr val="E0E8F4"/>
            </a:solidFill>
            <a:prstDash val="solid"/>
          </a:ln>
        </p:spPr>
        <p:txBody>
          <a:bodyPr/>
          <a:lstStyle/>
          <a:p>
            <a:endParaRPr lang="en-US"/>
          </a:p>
        </p:txBody>
      </p:sp>
      <p:sp>
        <p:nvSpPr>
          <p:cNvPr id="16" name="Text 14"/>
          <p:cNvSpPr/>
          <p:nvPr/>
        </p:nvSpPr>
        <p:spPr>
          <a:xfrm>
            <a:off x="475488" y="3035808"/>
            <a:ext cx="1371600" cy="384048"/>
          </a:xfrm>
          <a:prstGeom prst="rect">
            <a:avLst/>
          </a:prstGeom>
          <a:noFill/>
          <a:ln/>
        </p:spPr>
        <p:txBody>
          <a:bodyPr wrap="square" lIns="0" tIns="0" rIns="0" bIns="0" rtlCol="0" anchor="ctr"/>
          <a:lstStyle/>
          <a:p>
            <a:pPr marL="0" indent="0" algn="l">
              <a:buNone/>
            </a:pPr>
            <a:r>
              <a:rPr lang="en-US" sz="1100" b="1" dirty="0">
                <a:solidFill>
                  <a:srgbClr val="0B7A8C"/>
                </a:solidFill>
                <a:latin typeface="Calibri" pitchFamily="34" charset="0"/>
                <a:ea typeface="Calibri" pitchFamily="34" charset="-122"/>
                <a:cs typeface="Calibri" pitchFamily="34" charset="-120"/>
              </a:rPr>
              <a:t>User impact</a:t>
            </a:r>
            <a:endParaRPr lang="en-US" sz="1100" dirty="0"/>
          </a:p>
        </p:txBody>
      </p:sp>
      <p:sp>
        <p:nvSpPr>
          <p:cNvPr id="17" name="Text 15"/>
          <p:cNvSpPr/>
          <p:nvPr/>
        </p:nvSpPr>
        <p:spPr>
          <a:xfrm>
            <a:off x="1874520" y="3035808"/>
            <a:ext cx="3474720" cy="384048"/>
          </a:xfrm>
          <a:prstGeom prst="rect">
            <a:avLst/>
          </a:prstGeom>
          <a:noFill/>
          <a:ln/>
        </p:spPr>
        <p:txBody>
          <a:bodyPr wrap="square" lIns="0" tIns="0" rIns="0" bIns="0" rtlCol="0" anchor="ctr"/>
          <a:lstStyle/>
          <a:p>
            <a:pPr marL="0" indent="0" algn="l">
              <a:buNone/>
            </a:pPr>
            <a:r>
              <a:rPr lang="en-US" sz="1100" dirty="0">
                <a:solidFill>
                  <a:srgbClr val="1A2040"/>
                </a:solidFill>
                <a:latin typeface="Calibri" pitchFamily="34" charset="0"/>
                <a:ea typeface="Calibri" pitchFamily="34" charset="-122"/>
                <a:cs typeface="Calibri" pitchFamily="34" charset="-120"/>
              </a:rPr>
              <a:t>None. This is a background setting. Users do not interact with it and will not notice it is enabled</a:t>
            </a:r>
            <a:endParaRPr lang="en-US" sz="1100" dirty="0"/>
          </a:p>
        </p:txBody>
      </p:sp>
      <p:sp>
        <p:nvSpPr>
          <p:cNvPr id="18" name="Shape 16"/>
          <p:cNvSpPr/>
          <p:nvPr/>
        </p:nvSpPr>
        <p:spPr>
          <a:xfrm>
            <a:off x="347472" y="3547872"/>
            <a:ext cx="5120640" cy="502920"/>
          </a:xfrm>
          <a:prstGeom prst="rect">
            <a:avLst/>
          </a:prstGeom>
          <a:solidFill>
            <a:srgbClr val="FFFFFF"/>
          </a:solidFill>
          <a:ln w="12700">
            <a:solidFill>
              <a:srgbClr val="E0E8F4"/>
            </a:solidFill>
            <a:prstDash val="solid"/>
          </a:ln>
        </p:spPr>
        <p:txBody>
          <a:bodyPr/>
          <a:lstStyle/>
          <a:p>
            <a:endParaRPr lang="en-US"/>
          </a:p>
        </p:txBody>
      </p:sp>
      <p:sp>
        <p:nvSpPr>
          <p:cNvPr id="19" name="Text 17"/>
          <p:cNvSpPr/>
          <p:nvPr/>
        </p:nvSpPr>
        <p:spPr>
          <a:xfrm>
            <a:off x="475488" y="3602736"/>
            <a:ext cx="1371600" cy="384048"/>
          </a:xfrm>
          <a:prstGeom prst="rect">
            <a:avLst/>
          </a:prstGeom>
          <a:noFill/>
          <a:ln/>
        </p:spPr>
        <p:txBody>
          <a:bodyPr wrap="square" lIns="0" tIns="0" rIns="0" bIns="0" rtlCol="0" anchor="ctr"/>
          <a:lstStyle/>
          <a:p>
            <a:pPr marL="0" indent="0" algn="l">
              <a:buNone/>
            </a:pPr>
            <a:r>
              <a:rPr lang="en-US" sz="1100" b="1" dirty="0">
                <a:solidFill>
                  <a:srgbClr val="0B7A8C"/>
                </a:solidFill>
                <a:latin typeface="Calibri" pitchFamily="34" charset="0"/>
                <a:ea typeface="Calibri" pitchFamily="34" charset="-122"/>
                <a:cs typeface="Calibri" pitchFamily="34" charset="-120"/>
              </a:rPr>
              <a:t>How applied</a:t>
            </a:r>
            <a:endParaRPr lang="en-US" sz="1100" dirty="0"/>
          </a:p>
        </p:txBody>
      </p:sp>
      <p:sp>
        <p:nvSpPr>
          <p:cNvPr id="20" name="Text 18"/>
          <p:cNvSpPr/>
          <p:nvPr/>
        </p:nvSpPr>
        <p:spPr>
          <a:xfrm>
            <a:off x="1874520" y="3602736"/>
            <a:ext cx="3474720" cy="384048"/>
          </a:xfrm>
          <a:prstGeom prst="rect">
            <a:avLst/>
          </a:prstGeom>
          <a:noFill/>
          <a:ln/>
        </p:spPr>
        <p:txBody>
          <a:bodyPr wrap="square" lIns="0" tIns="0" rIns="0" bIns="0" rtlCol="0" anchor="ctr"/>
          <a:lstStyle/>
          <a:p>
            <a:pPr marL="0" indent="0" algn="l">
              <a:buNone/>
            </a:pPr>
            <a:r>
              <a:rPr lang="en-US" sz="1100" dirty="0">
                <a:solidFill>
                  <a:srgbClr val="1A2040"/>
                </a:solidFill>
                <a:latin typeface="Calibri" pitchFamily="34" charset="0"/>
                <a:ea typeface="Calibri" pitchFamily="34" charset="-122"/>
                <a:cs typeface="Calibri" pitchFamily="34" charset="-120"/>
              </a:rPr>
              <a:t>Single registry key via Group Policy (HKLM\SOFTWARE\Policies\Microsoft\Windows\PowerShell\ScriptBlockLogging)</a:t>
            </a:r>
            <a:endParaRPr lang="en-US" sz="1100" dirty="0"/>
          </a:p>
        </p:txBody>
      </p:sp>
      <p:sp>
        <p:nvSpPr>
          <p:cNvPr id="21" name="Shape 19"/>
          <p:cNvSpPr/>
          <p:nvPr/>
        </p:nvSpPr>
        <p:spPr>
          <a:xfrm>
            <a:off x="347472" y="4114800"/>
            <a:ext cx="5120640" cy="502920"/>
          </a:xfrm>
          <a:prstGeom prst="rect">
            <a:avLst/>
          </a:prstGeom>
          <a:solidFill>
            <a:srgbClr val="F4F7FB"/>
          </a:solidFill>
          <a:ln w="12700">
            <a:solidFill>
              <a:srgbClr val="E0E8F4"/>
            </a:solidFill>
            <a:prstDash val="solid"/>
          </a:ln>
        </p:spPr>
        <p:txBody>
          <a:bodyPr/>
          <a:lstStyle/>
          <a:p>
            <a:endParaRPr lang="en-US"/>
          </a:p>
        </p:txBody>
      </p:sp>
      <p:sp>
        <p:nvSpPr>
          <p:cNvPr id="22" name="Text 20"/>
          <p:cNvSpPr/>
          <p:nvPr/>
        </p:nvSpPr>
        <p:spPr>
          <a:xfrm>
            <a:off x="475488" y="4169664"/>
            <a:ext cx="1371600" cy="384048"/>
          </a:xfrm>
          <a:prstGeom prst="rect">
            <a:avLst/>
          </a:prstGeom>
          <a:noFill/>
          <a:ln/>
        </p:spPr>
        <p:txBody>
          <a:bodyPr wrap="square" lIns="0" tIns="0" rIns="0" bIns="0" rtlCol="0" anchor="ctr"/>
          <a:lstStyle/>
          <a:p>
            <a:pPr marL="0" indent="0" algn="l">
              <a:buNone/>
            </a:pPr>
            <a:r>
              <a:rPr lang="en-US" sz="1100" b="1" dirty="0">
                <a:solidFill>
                  <a:srgbClr val="0B7A8C"/>
                </a:solidFill>
                <a:latin typeface="Calibri" pitchFamily="34" charset="0"/>
                <a:ea typeface="Calibri" pitchFamily="34" charset="-122"/>
                <a:cs typeface="Calibri" pitchFamily="34" charset="-120"/>
              </a:rPr>
              <a:t>Tier</a:t>
            </a:r>
            <a:endParaRPr lang="en-US" sz="1100" dirty="0"/>
          </a:p>
        </p:txBody>
      </p:sp>
      <p:sp>
        <p:nvSpPr>
          <p:cNvPr id="23" name="Text 21"/>
          <p:cNvSpPr/>
          <p:nvPr/>
        </p:nvSpPr>
        <p:spPr>
          <a:xfrm>
            <a:off x="1874520" y="4169664"/>
            <a:ext cx="3474720" cy="384048"/>
          </a:xfrm>
          <a:prstGeom prst="rect">
            <a:avLst/>
          </a:prstGeom>
          <a:noFill/>
          <a:ln/>
        </p:spPr>
        <p:txBody>
          <a:bodyPr wrap="square" lIns="0" tIns="0" rIns="0" bIns="0" rtlCol="0" anchor="ctr"/>
          <a:lstStyle/>
          <a:p>
            <a:pPr marL="0" indent="0" algn="l">
              <a:buNone/>
            </a:pPr>
            <a:r>
              <a:rPr lang="en-US" sz="1100" dirty="0">
                <a:solidFill>
                  <a:srgbClr val="1A2040"/>
                </a:solidFill>
                <a:latin typeface="Calibri" pitchFamily="34" charset="0"/>
                <a:ea typeface="Calibri" pitchFamily="34" charset="-122"/>
                <a:cs typeface="Calibri" pitchFamily="34" charset="-120"/>
              </a:rPr>
              <a:t>Tier 1 — Validated and ready to deploy</a:t>
            </a:r>
            <a:endParaRPr lang="en-US" sz="1100" dirty="0"/>
          </a:p>
        </p:txBody>
      </p:sp>
      <p:sp>
        <p:nvSpPr>
          <p:cNvPr id="24" name="Shape 22"/>
          <p:cNvSpPr/>
          <p:nvPr/>
        </p:nvSpPr>
        <p:spPr>
          <a:xfrm>
            <a:off x="5669280" y="1280160"/>
            <a:ext cx="3108960" cy="3383280"/>
          </a:xfrm>
          <a:prstGeom prst="rect">
            <a:avLst/>
          </a:prstGeom>
          <a:solidFill>
            <a:srgbClr val="D6E4F7"/>
          </a:solidFill>
          <a:ln w="12700">
            <a:solidFill>
              <a:srgbClr val="A8C4E0"/>
            </a:solidFill>
            <a:prstDash val="dash"/>
          </a:ln>
        </p:spPr>
        <p:txBody>
          <a:bodyPr/>
          <a:lstStyle/>
          <a:p>
            <a:endParaRPr lang="en-US"/>
          </a:p>
        </p:txBody>
      </p:sp>
      <p:sp>
        <p:nvSpPr>
          <p:cNvPr id="25" name="Text 23"/>
          <p:cNvSpPr/>
          <p:nvPr/>
        </p:nvSpPr>
        <p:spPr>
          <a:xfrm>
            <a:off x="5669280" y="1280160"/>
            <a:ext cx="3108960" cy="3383280"/>
          </a:xfrm>
          <a:prstGeom prst="rect">
            <a:avLst/>
          </a:prstGeom>
          <a:noFill/>
          <a:ln/>
        </p:spPr>
        <p:txBody>
          <a:bodyPr wrap="square" rtlCol="0" anchor="ctr"/>
          <a:lstStyle/>
          <a:p>
            <a:pPr marL="0" indent="0" algn="ctr">
              <a:buNone/>
            </a:pPr>
            <a:r>
              <a:rPr lang="en-US" sz="1100" i="1" dirty="0">
                <a:solidFill>
                  <a:srgbClr val="5A80A8"/>
                </a:solidFill>
                <a:latin typeface="Calibri" pitchFamily="34" charset="0"/>
                <a:ea typeface="Calibri" pitchFamily="34" charset="-122"/>
                <a:cs typeface="Calibri" pitchFamily="34" charset="-120"/>
              </a:rPr>
              <a:t>[ INSERT: STIG Viewer – Failed Control Screenshot ]</a:t>
            </a:r>
            <a:endParaRPr lang="en-US" sz="1100" dirty="0"/>
          </a:p>
        </p:txBody>
      </p:sp>
      <p:pic>
        <p:nvPicPr>
          <p:cNvPr id="29" name="Picture 28">
            <a:extLst>
              <a:ext uri="{FF2B5EF4-FFF2-40B4-BE49-F238E27FC236}">
                <a16:creationId xmlns:a16="http://schemas.microsoft.com/office/drawing/2014/main" id="{9EA6C45B-C5B0-C28D-476D-05FD51477695}"/>
              </a:ext>
            </a:extLst>
          </p:cNvPr>
          <p:cNvPicPr>
            <a:picLocks noChangeAspect="1"/>
          </p:cNvPicPr>
          <p:nvPr/>
        </p:nvPicPr>
        <p:blipFill>
          <a:blip r:embed="rId3"/>
          <a:srcRect r="28900" b="10654"/>
          <a:stretch>
            <a:fillRect/>
          </a:stretch>
        </p:blipFill>
        <p:spPr>
          <a:xfrm>
            <a:off x="5669279" y="1284731"/>
            <a:ext cx="3108961" cy="3374137"/>
          </a:xfrm>
          <a:prstGeom prst="rect">
            <a:avLst/>
          </a:prstGeom>
        </p:spPr>
      </p:pic>
      <p:sp>
        <p:nvSpPr>
          <p:cNvPr id="30" name="Rectangle 29">
            <a:extLst>
              <a:ext uri="{FF2B5EF4-FFF2-40B4-BE49-F238E27FC236}">
                <a16:creationId xmlns:a16="http://schemas.microsoft.com/office/drawing/2014/main" id="{3629696C-1FC8-5539-A25E-262007417FB9}"/>
              </a:ext>
            </a:extLst>
          </p:cNvPr>
          <p:cNvSpPr/>
          <p:nvPr/>
        </p:nvSpPr>
        <p:spPr>
          <a:xfrm>
            <a:off x="5728063" y="1803328"/>
            <a:ext cx="1541417" cy="1632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Remediation Workflow</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Every control follows the same structured eight-step process</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6" name="Shape 4"/>
          <p:cNvSpPr/>
          <p:nvPr/>
        </p:nvSpPr>
        <p:spPr>
          <a:xfrm>
            <a:off x="347472" y="1298448"/>
            <a:ext cx="4206240" cy="7315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438912" y="1444752"/>
            <a:ext cx="420624" cy="420624"/>
          </a:xfrm>
          <a:prstGeom prst="ellipse">
            <a:avLst/>
          </a:prstGeom>
          <a:solidFill>
            <a:srgbClr val="0B7A8C"/>
          </a:solidFill>
          <a:ln w="12700">
            <a:solidFill>
              <a:srgbClr val="0B7A8C"/>
            </a:solidFill>
            <a:prstDash val="solid"/>
          </a:ln>
        </p:spPr>
        <p:txBody>
          <a:bodyPr/>
          <a:lstStyle/>
          <a:p>
            <a:endParaRPr lang="en-US"/>
          </a:p>
        </p:txBody>
      </p:sp>
      <p:sp>
        <p:nvSpPr>
          <p:cNvPr id="8" name="Text 6"/>
          <p:cNvSpPr/>
          <p:nvPr/>
        </p:nvSpPr>
        <p:spPr>
          <a:xfrm>
            <a:off x="438912" y="14447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969264" y="1353312"/>
            <a:ext cx="3474720" cy="27432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Review STIG Fix Text</a:t>
            </a:r>
            <a:endParaRPr lang="en-US" sz="1200" dirty="0"/>
          </a:p>
        </p:txBody>
      </p:sp>
      <p:sp>
        <p:nvSpPr>
          <p:cNvPr id="10" name="Text 8"/>
          <p:cNvSpPr/>
          <p:nvPr/>
        </p:nvSpPr>
        <p:spPr>
          <a:xfrm>
            <a:off x="969264" y="1645920"/>
            <a:ext cx="3474720" cy="320040"/>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Understand exactly what the control requires and what it changes</a:t>
            </a:r>
            <a:endParaRPr lang="en-US" sz="1100" dirty="0"/>
          </a:p>
        </p:txBody>
      </p:sp>
      <p:sp>
        <p:nvSpPr>
          <p:cNvPr id="11" name="Shape 9"/>
          <p:cNvSpPr/>
          <p:nvPr/>
        </p:nvSpPr>
        <p:spPr>
          <a:xfrm>
            <a:off x="4800600" y="1298448"/>
            <a:ext cx="4206240" cy="7315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892040" y="1444752"/>
            <a:ext cx="420624" cy="420624"/>
          </a:xfrm>
          <a:prstGeom prst="ellipse">
            <a:avLst/>
          </a:prstGeom>
          <a:solidFill>
            <a:srgbClr val="0B7A8C"/>
          </a:solidFill>
          <a:ln w="12700">
            <a:solidFill>
              <a:srgbClr val="0B7A8C"/>
            </a:solidFill>
            <a:prstDash val="solid"/>
          </a:ln>
        </p:spPr>
        <p:txBody>
          <a:bodyPr/>
          <a:lstStyle/>
          <a:p>
            <a:endParaRPr lang="en-US"/>
          </a:p>
        </p:txBody>
      </p:sp>
      <p:sp>
        <p:nvSpPr>
          <p:cNvPr id="13" name="Text 11"/>
          <p:cNvSpPr/>
          <p:nvPr/>
        </p:nvSpPr>
        <p:spPr>
          <a:xfrm>
            <a:off x="4892040" y="14447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5422392" y="1353312"/>
            <a:ext cx="3474720" cy="27432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Validate Against MS Guidance</a:t>
            </a:r>
            <a:endParaRPr lang="en-US" sz="1200" dirty="0"/>
          </a:p>
        </p:txBody>
      </p:sp>
      <p:sp>
        <p:nvSpPr>
          <p:cNvPr id="15" name="Text 13"/>
          <p:cNvSpPr/>
          <p:nvPr/>
        </p:nvSpPr>
        <p:spPr>
          <a:xfrm>
            <a:off x="5422392" y="1645920"/>
            <a:ext cx="3474720" cy="320040"/>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Cross-reference Microsoft documentation to identify known conflicts</a:t>
            </a:r>
            <a:endParaRPr lang="en-US" sz="1100" dirty="0"/>
          </a:p>
        </p:txBody>
      </p:sp>
      <p:sp>
        <p:nvSpPr>
          <p:cNvPr id="16" name="Shape 14"/>
          <p:cNvSpPr/>
          <p:nvPr/>
        </p:nvSpPr>
        <p:spPr>
          <a:xfrm>
            <a:off x="347472" y="2157984"/>
            <a:ext cx="4206240" cy="7315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38912" y="2304288"/>
            <a:ext cx="420624" cy="420624"/>
          </a:xfrm>
          <a:prstGeom prst="ellipse">
            <a:avLst/>
          </a:prstGeom>
          <a:solidFill>
            <a:srgbClr val="0B7A8C"/>
          </a:solidFill>
          <a:ln w="12700">
            <a:solidFill>
              <a:srgbClr val="0B7A8C"/>
            </a:solidFill>
            <a:prstDash val="solid"/>
          </a:ln>
        </p:spPr>
        <p:txBody>
          <a:bodyPr/>
          <a:lstStyle/>
          <a:p>
            <a:endParaRPr lang="en-US"/>
          </a:p>
        </p:txBody>
      </p:sp>
      <p:sp>
        <p:nvSpPr>
          <p:cNvPr id="18" name="Text 16"/>
          <p:cNvSpPr/>
          <p:nvPr/>
        </p:nvSpPr>
        <p:spPr>
          <a:xfrm>
            <a:off x="438912" y="230428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969264" y="2212848"/>
            <a:ext cx="3474720" cy="27432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Assess Operational Impact</a:t>
            </a:r>
            <a:endParaRPr lang="en-US" sz="1200" dirty="0"/>
          </a:p>
        </p:txBody>
      </p:sp>
      <p:sp>
        <p:nvSpPr>
          <p:cNvPr id="20" name="Text 18"/>
          <p:cNvSpPr/>
          <p:nvPr/>
        </p:nvSpPr>
        <p:spPr>
          <a:xfrm>
            <a:off x="969264" y="2505456"/>
            <a:ext cx="3474720" cy="320040"/>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Identify effect on users, help desk, remote access, and support tools</a:t>
            </a:r>
            <a:endParaRPr lang="en-US" sz="1100" dirty="0"/>
          </a:p>
        </p:txBody>
      </p:sp>
      <p:sp>
        <p:nvSpPr>
          <p:cNvPr id="21" name="Shape 19"/>
          <p:cNvSpPr/>
          <p:nvPr/>
        </p:nvSpPr>
        <p:spPr>
          <a:xfrm>
            <a:off x="4800600" y="2157984"/>
            <a:ext cx="4206240" cy="7315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4892040" y="2304288"/>
            <a:ext cx="420624" cy="420624"/>
          </a:xfrm>
          <a:prstGeom prst="ellipse">
            <a:avLst/>
          </a:prstGeom>
          <a:solidFill>
            <a:srgbClr val="0B7A8C"/>
          </a:solidFill>
          <a:ln w="12700">
            <a:solidFill>
              <a:srgbClr val="0B7A8C"/>
            </a:solidFill>
            <a:prstDash val="solid"/>
          </a:ln>
        </p:spPr>
        <p:txBody>
          <a:bodyPr/>
          <a:lstStyle/>
          <a:p>
            <a:endParaRPr lang="en-US"/>
          </a:p>
        </p:txBody>
      </p:sp>
      <p:sp>
        <p:nvSpPr>
          <p:cNvPr id="23" name="Text 21"/>
          <p:cNvSpPr/>
          <p:nvPr/>
        </p:nvSpPr>
        <p:spPr>
          <a:xfrm>
            <a:off x="4892040" y="230428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5422392" y="2212848"/>
            <a:ext cx="3474720" cy="27432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Apply Controlled Change</a:t>
            </a:r>
            <a:endParaRPr lang="en-US" sz="1200" dirty="0"/>
          </a:p>
        </p:txBody>
      </p:sp>
      <p:sp>
        <p:nvSpPr>
          <p:cNvPr id="25" name="Text 23"/>
          <p:cNvSpPr/>
          <p:nvPr/>
        </p:nvSpPr>
        <p:spPr>
          <a:xfrm>
            <a:off x="5422392" y="2505456"/>
            <a:ext cx="3474720" cy="320040"/>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Implement via Group Policy or registry in a test environment first</a:t>
            </a:r>
            <a:endParaRPr lang="en-US" sz="1100" dirty="0"/>
          </a:p>
        </p:txBody>
      </p:sp>
      <p:sp>
        <p:nvSpPr>
          <p:cNvPr id="26" name="Shape 24"/>
          <p:cNvSpPr/>
          <p:nvPr/>
        </p:nvSpPr>
        <p:spPr>
          <a:xfrm>
            <a:off x="347472" y="3017520"/>
            <a:ext cx="4206240" cy="7315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438912" y="3163824"/>
            <a:ext cx="420624" cy="420624"/>
          </a:xfrm>
          <a:prstGeom prst="ellipse">
            <a:avLst/>
          </a:prstGeom>
          <a:solidFill>
            <a:srgbClr val="0B7A8C"/>
          </a:solidFill>
          <a:ln w="12700">
            <a:solidFill>
              <a:srgbClr val="0B7A8C"/>
            </a:solidFill>
            <a:prstDash val="solid"/>
          </a:ln>
        </p:spPr>
        <p:txBody>
          <a:bodyPr/>
          <a:lstStyle/>
          <a:p>
            <a:endParaRPr lang="en-US"/>
          </a:p>
        </p:txBody>
      </p:sp>
      <p:sp>
        <p:nvSpPr>
          <p:cNvPr id="28" name="Text 26"/>
          <p:cNvSpPr/>
          <p:nvPr/>
        </p:nvSpPr>
        <p:spPr>
          <a:xfrm>
            <a:off x="438912" y="31638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969264" y="3072384"/>
            <a:ext cx="3474720" cy="27432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Validate Configuration</a:t>
            </a:r>
            <a:endParaRPr lang="en-US" sz="1200" dirty="0"/>
          </a:p>
        </p:txBody>
      </p:sp>
      <p:sp>
        <p:nvSpPr>
          <p:cNvPr id="30" name="Text 28"/>
          <p:cNvSpPr/>
          <p:nvPr/>
        </p:nvSpPr>
        <p:spPr>
          <a:xfrm>
            <a:off x="969264" y="3364992"/>
            <a:ext cx="3474720" cy="320040"/>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Confirm the setting applied correctly and the control passes</a:t>
            </a:r>
            <a:endParaRPr lang="en-US" sz="1100" dirty="0"/>
          </a:p>
        </p:txBody>
      </p:sp>
      <p:sp>
        <p:nvSpPr>
          <p:cNvPr id="31" name="Shape 29"/>
          <p:cNvSpPr/>
          <p:nvPr/>
        </p:nvSpPr>
        <p:spPr>
          <a:xfrm>
            <a:off x="4800600" y="3017520"/>
            <a:ext cx="4206240" cy="7315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32" name="Shape 30"/>
          <p:cNvSpPr/>
          <p:nvPr/>
        </p:nvSpPr>
        <p:spPr>
          <a:xfrm>
            <a:off x="4892040" y="3163824"/>
            <a:ext cx="420624" cy="420624"/>
          </a:xfrm>
          <a:prstGeom prst="ellipse">
            <a:avLst/>
          </a:prstGeom>
          <a:solidFill>
            <a:srgbClr val="0B7A8C"/>
          </a:solidFill>
          <a:ln w="12700">
            <a:solidFill>
              <a:srgbClr val="0B7A8C"/>
            </a:solidFill>
            <a:prstDash val="solid"/>
          </a:ln>
        </p:spPr>
        <p:txBody>
          <a:bodyPr/>
          <a:lstStyle/>
          <a:p>
            <a:endParaRPr lang="en-US"/>
          </a:p>
        </p:txBody>
      </p:sp>
      <p:sp>
        <p:nvSpPr>
          <p:cNvPr id="33" name="Text 31"/>
          <p:cNvSpPr/>
          <p:nvPr/>
        </p:nvSpPr>
        <p:spPr>
          <a:xfrm>
            <a:off x="4892040" y="31638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p:nvPr/>
        </p:nvSpPr>
        <p:spPr>
          <a:xfrm>
            <a:off x="5422392" y="3072384"/>
            <a:ext cx="3474720" cy="27432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Smoke Test User Workflows</a:t>
            </a:r>
            <a:endParaRPr lang="en-US" sz="1200" dirty="0"/>
          </a:p>
        </p:txBody>
      </p:sp>
      <p:sp>
        <p:nvSpPr>
          <p:cNvPr id="35" name="Text 33"/>
          <p:cNvSpPr/>
          <p:nvPr/>
        </p:nvSpPr>
        <p:spPr>
          <a:xfrm>
            <a:off x="5422392" y="3364992"/>
            <a:ext cx="3474720" cy="320040"/>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Run structured checklist: login, remote access, IT tools, stability</a:t>
            </a:r>
            <a:endParaRPr lang="en-US" sz="1100" dirty="0"/>
          </a:p>
        </p:txBody>
      </p:sp>
      <p:sp>
        <p:nvSpPr>
          <p:cNvPr id="36" name="Shape 34"/>
          <p:cNvSpPr/>
          <p:nvPr/>
        </p:nvSpPr>
        <p:spPr>
          <a:xfrm>
            <a:off x="347472" y="3877056"/>
            <a:ext cx="4206240" cy="7315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37" name="Shape 35"/>
          <p:cNvSpPr/>
          <p:nvPr/>
        </p:nvSpPr>
        <p:spPr>
          <a:xfrm>
            <a:off x="438912" y="4023360"/>
            <a:ext cx="420624" cy="420624"/>
          </a:xfrm>
          <a:prstGeom prst="ellipse">
            <a:avLst/>
          </a:prstGeom>
          <a:solidFill>
            <a:srgbClr val="0B7A8C"/>
          </a:solidFill>
          <a:ln w="12700">
            <a:solidFill>
              <a:srgbClr val="0B7A8C"/>
            </a:solidFill>
            <a:prstDash val="solid"/>
          </a:ln>
        </p:spPr>
        <p:txBody>
          <a:bodyPr/>
          <a:lstStyle/>
          <a:p>
            <a:endParaRPr lang="en-US"/>
          </a:p>
        </p:txBody>
      </p:sp>
      <p:sp>
        <p:nvSpPr>
          <p:cNvPr id="38" name="Text 36"/>
          <p:cNvSpPr/>
          <p:nvPr/>
        </p:nvSpPr>
        <p:spPr>
          <a:xfrm>
            <a:off x="438912" y="4023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9" name="Text 37"/>
          <p:cNvSpPr/>
          <p:nvPr/>
        </p:nvSpPr>
        <p:spPr>
          <a:xfrm>
            <a:off x="969264" y="3931920"/>
            <a:ext cx="3474720" cy="27432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Document Evidence</a:t>
            </a:r>
            <a:endParaRPr lang="en-US" sz="1200" dirty="0"/>
          </a:p>
        </p:txBody>
      </p:sp>
      <p:sp>
        <p:nvSpPr>
          <p:cNvPr id="40" name="Text 38"/>
          <p:cNvSpPr/>
          <p:nvPr/>
        </p:nvSpPr>
        <p:spPr>
          <a:xfrm>
            <a:off x="969264" y="4224528"/>
            <a:ext cx="3474720" cy="320040"/>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Capture before and after state, screenshots, and validation notes</a:t>
            </a:r>
            <a:endParaRPr lang="en-US" sz="1100" dirty="0"/>
          </a:p>
        </p:txBody>
      </p:sp>
      <p:sp>
        <p:nvSpPr>
          <p:cNvPr id="41" name="Shape 39"/>
          <p:cNvSpPr/>
          <p:nvPr/>
        </p:nvSpPr>
        <p:spPr>
          <a:xfrm>
            <a:off x="4800600" y="3877056"/>
            <a:ext cx="4206240" cy="7315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42" name="Shape 40"/>
          <p:cNvSpPr/>
          <p:nvPr/>
        </p:nvSpPr>
        <p:spPr>
          <a:xfrm>
            <a:off x="4892040" y="4023360"/>
            <a:ext cx="420624" cy="420624"/>
          </a:xfrm>
          <a:prstGeom prst="ellipse">
            <a:avLst/>
          </a:prstGeom>
          <a:solidFill>
            <a:srgbClr val="0B7A8C"/>
          </a:solidFill>
          <a:ln w="12700">
            <a:solidFill>
              <a:srgbClr val="0B7A8C"/>
            </a:solidFill>
            <a:prstDash val="solid"/>
          </a:ln>
        </p:spPr>
        <p:txBody>
          <a:bodyPr/>
          <a:lstStyle/>
          <a:p>
            <a:endParaRPr lang="en-US"/>
          </a:p>
        </p:txBody>
      </p:sp>
      <p:sp>
        <p:nvSpPr>
          <p:cNvPr id="43" name="Text 41"/>
          <p:cNvSpPr/>
          <p:nvPr/>
        </p:nvSpPr>
        <p:spPr>
          <a:xfrm>
            <a:off x="4892040" y="4023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4" name="Text 42"/>
          <p:cNvSpPr/>
          <p:nvPr/>
        </p:nvSpPr>
        <p:spPr>
          <a:xfrm>
            <a:off x="5422392" y="3931920"/>
            <a:ext cx="3474720" cy="27432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Maintain Rollback Option</a:t>
            </a:r>
            <a:endParaRPr lang="en-US" sz="1200" dirty="0"/>
          </a:p>
        </p:txBody>
      </p:sp>
      <p:sp>
        <p:nvSpPr>
          <p:cNvPr id="45" name="Text 43"/>
          <p:cNvSpPr/>
          <p:nvPr/>
        </p:nvSpPr>
        <p:spPr>
          <a:xfrm>
            <a:off x="5422392" y="4224528"/>
            <a:ext cx="3474720" cy="320040"/>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Tested reversal procedure documented before any wider deployment</a:t>
            </a:r>
            <a:endParaRPr lang="en-US" sz="1100" dirty="0"/>
          </a:p>
        </p:txBody>
      </p:sp>
      <p:sp>
        <p:nvSpPr>
          <p:cNvPr id="46" name="Shape 44"/>
          <p:cNvSpPr/>
          <p:nvPr/>
        </p:nvSpPr>
        <p:spPr>
          <a:xfrm>
            <a:off x="347472" y="4736592"/>
            <a:ext cx="8430768" cy="274320"/>
          </a:xfrm>
          <a:prstGeom prst="rect">
            <a:avLst/>
          </a:prstGeom>
          <a:solidFill>
            <a:srgbClr val="FFF4E0"/>
          </a:solidFill>
          <a:ln w="12700">
            <a:solidFill>
              <a:srgbClr val="D4A840"/>
            </a:solidFill>
            <a:prstDash val="solid"/>
          </a:ln>
        </p:spPr>
        <p:txBody>
          <a:bodyPr/>
          <a:lstStyle/>
          <a:p>
            <a:endParaRPr lang="en-US"/>
          </a:p>
        </p:txBody>
      </p:sp>
      <p:sp>
        <p:nvSpPr>
          <p:cNvPr id="47" name="Text 45"/>
          <p:cNvSpPr/>
          <p:nvPr/>
        </p:nvSpPr>
        <p:spPr>
          <a:xfrm>
            <a:off x="502920" y="4736592"/>
            <a:ext cx="8229600" cy="274320"/>
          </a:xfrm>
          <a:prstGeom prst="rect">
            <a:avLst/>
          </a:prstGeom>
          <a:noFill/>
          <a:ln/>
        </p:spPr>
        <p:txBody>
          <a:bodyPr wrap="square" lIns="0" tIns="0" rIns="0" bIns="0" rtlCol="0" anchor="ctr"/>
          <a:lstStyle/>
          <a:p>
            <a:pPr marL="0" indent="0" algn="ctr">
              <a:buNone/>
            </a:pPr>
            <a:r>
              <a:rPr lang="en-US" sz="1000" i="1" dirty="0">
                <a:solidFill>
                  <a:srgbClr val="B86E00"/>
                </a:solidFill>
                <a:latin typeface="Calibri" pitchFamily="34" charset="0"/>
                <a:ea typeface="Calibri" pitchFamily="34" charset="-122"/>
                <a:cs typeface="Calibri" pitchFamily="34" charset="-120"/>
              </a:rPr>
              <a:t>Note: Domain GPO policies override local changes. Cross-team alignment is required before any production rollout.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Validation Example: Before &amp; After</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Confirming change success without operational disruption</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6" name="Shape 4"/>
          <p:cNvSpPr/>
          <p:nvPr/>
        </p:nvSpPr>
        <p:spPr>
          <a:xfrm>
            <a:off x="347472" y="1298448"/>
            <a:ext cx="4069080" cy="27889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47472" y="1298448"/>
            <a:ext cx="4069080" cy="402336"/>
          </a:xfrm>
          <a:prstGeom prst="rect">
            <a:avLst/>
          </a:prstGeom>
          <a:solidFill>
            <a:srgbClr val="9B2335"/>
          </a:solidFill>
          <a:ln w="12700">
            <a:solidFill>
              <a:srgbClr val="9B2335"/>
            </a:solidFill>
            <a:prstDash val="solid"/>
          </a:ln>
        </p:spPr>
        <p:txBody>
          <a:bodyPr/>
          <a:lstStyle/>
          <a:p>
            <a:endParaRPr lang="en-US"/>
          </a:p>
        </p:txBody>
      </p:sp>
      <p:sp>
        <p:nvSpPr>
          <p:cNvPr id="8" name="Text 6"/>
          <p:cNvSpPr/>
          <p:nvPr/>
        </p:nvSpPr>
        <p:spPr>
          <a:xfrm>
            <a:off x="502920" y="1335024"/>
            <a:ext cx="3749040" cy="310896"/>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Before – Control Fails</a:t>
            </a:r>
            <a:endParaRPr lang="en-US" sz="1300" dirty="0"/>
          </a:p>
        </p:txBody>
      </p:sp>
      <p:sp>
        <p:nvSpPr>
          <p:cNvPr id="9" name="Shape 7"/>
          <p:cNvSpPr/>
          <p:nvPr/>
        </p:nvSpPr>
        <p:spPr>
          <a:xfrm>
            <a:off x="502920" y="1792224"/>
            <a:ext cx="3749040" cy="1664208"/>
          </a:xfrm>
          <a:prstGeom prst="rect">
            <a:avLst/>
          </a:prstGeom>
          <a:solidFill>
            <a:srgbClr val="D6E4F7"/>
          </a:solidFill>
          <a:ln w="12700">
            <a:solidFill>
              <a:srgbClr val="A8C4E0"/>
            </a:solidFill>
            <a:prstDash val="dash"/>
          </a:ln>
        </p:spPr>
        <p:txBody>
          <a:bodyPr/>
          <a:lstStyle/>
          <a:p>
            <a:endParaRPr lang="en-US" dirty="0"/>
          </a:p>
        </p:txBody>
      </p:sp>
      <p:sp>
        <p:nvSpPr>
          <p:cNvPr id="10" name="Text 8"/>
          <p:cNvSpPr/>
          <p:nvPr/>
        </p:nvSpPr>
        <p:spPr>
          <a:xfrm>
            <a:off x="502920" y="1792224"/>
            <a:ext cx="3749040" cy="1664208"/>
          </a:xfrm>
          <a:prstGeom prst="rect">
            <a:avLst/>
          </a:prstGeom>
          <a:noFill/>
          <a:ln/>
        </p:spPr>
        <p:txBody>
          <a:bodyPr wrap="square" rtlCol="0" anchor="ctr"/>
          <a:lstStyle/>
          <a:p>
            <a:pPr marL="0" indent="0" algn="ctr">
              <a:buNone/>
            </a:pPr>
            <a:endParaRPr lang="en-US" sz="1100" i="1" dirty="0">
              <a:solidFill>
                <a:srgbClr val="5A80A8"/>
              </a:solidFill>
              <a:latin typeface="Calibri" pitchFamily="34" charset="0"/>
              <a:ea typeface="Calibri" pitchFamily="34" charset="-122"/>
              <a:cs typeface="Calibri" pitchFamily="34" charset="-120"/>
            </a:endParaRPr>
          </a:p>
          <a:p>
            <a:pPr marL="0" indent="0" algn="ctr">
              <a:buNone/>
            </a:pPr>
            <a:endParaRPr lang="en-US" sz="1100" i="1" dirty="0">
              <a:solidFill>
                <a:srgbClr val="5A80A8"/>
              </a:solidFill>
              <a:latin typeface="Calibri" pitchFamily="34" charset="0"/>
              <a:ea typeface="Calibri" pitchFamily="34" charset="-122"/>
              <a:cs typeface="Calibri" pitchFamily="34" charset="-120"/>
            </a:endParaRPr>
          </a:p>
          <a:p>
            <a:pPr marL="0" indent="0" algn="ctr">
              <a:buNone/>
            </a:pPr>
            <a:endParaRPr lang="en-US" sz="1100" i="1" dirty="0">
              <a:solidFill>
                <a:srgbClr val="5A80A8"/>
              </a:solidFill>
              <a:latin typeface="Calibri" pitchFamily="34" charset="0"/>
              <a:ea typeface="Calibri" pitchFamily="34" charset="-122"/>
              <a:cs typeface="Calibri" pitchFamily="34" charset="-120"/>
            </a:endParaRPr>
          </a:p>
          <a:p>
            <a:pPr marL="0" indent="0" algn="ctr">
              <a:buNone/>
            </a:pPr>
            <a:endParaRPr lang="en-US" sz="1100" i="1" dirty="0">
              <a:solidFill>
                <a:srgbClr val="5A80A8"/>
              </a:solidFill>
              <a:latin typeface="Calibri" pitchFamily="34" charset="0"/>
              <a:ea typeface="Calibri" pitchFamily="34" charset="-122"/>
              <a:cs typeface="Calibri" pitchFamily="34" charset="-120"/>
            </a:endParaRPr>
          </a:p>
          <a:p>
            <a:pPr marL="0" indent="0" algn="ctr">
              <a:buNone/>
            </a:pPr>
            <a:endParaRPr lang="en-US" sz="1100" i="1" dirty="0">
              <a:solidFill>
                <a:srgbClr val="5A80A8"/>
              </a:solidFill>
              <a:latin typeface="Calibri" pitchFamily="34" charset="0"/>
              <a:ea typeface="Calibri" pitchFamily="34" charset="-122"/>
              <a:cs typeface="Calibri" pitchFamily="34" charset="-120"/>
            </a:endParaRPr>
          </a:p>
          <a:p>
            <a:pPr marL="0" indent="0" algn="ctr">
              <a:buNone/>
            </a:pPr>
            <a:endParaRPr lang="en-US" sz="1100" i="1" dirty="0">
              <a:solidFill>
                <a:srgbClr val="5A80A8"/>
              </a:solidFill>
              <a:latin typeface="Calibri" pitchFamily="34" charset="0"/>
              <a:ea typeface="Calibri" pitchFamily="34" charset="-122"/>
              <a:cs typeface="Calibri" pitchFamily="34" charset="-120"/>
            </a:endParaRPr>
          </a:p>
          <a:p>
            <a:pPr marL="0" indent="0" algn="ctr">
              <a:buNone/>
            </a:pPr>
            <a:endParaRPr lang="en-US" sz="1100" i="1" dirty="0">
              <a:solidFill>
                <a:srgbClr val="5A80A8"/>
              </a:solidFill>
              <a:latin typeface="Calibri" pitchFamily="34" charset="0"/>
              <a:ea typeface="Calibri" pitchFamily="34" charset="-122"/>
              <a:cs typeface="Calibri" pitchFamily="34" charset="-120"/>
            </a:endParaRPr>
          </a:p>
        </p:txBody>
      </p:sp>
      <p:sp>
        <p:nvSpPr>
          <p:cNvPr id="11" name="Text 9"/>
          <p:cNvSpPr/>
          <p:nvPr/>
        </p:nvSpPr>
        <p:spPr>
          <a:xfrm>
            <a:off x="502920" y="3493008"/>
            <a:ext cx="3749040" cy="347472"/>
          </a:xfrm>
          <a:prstGeom prst="rect">
            <a:avLst/>
          </a:prstGeom>
          <a:noFill/>
          <a:ln/>
        </p:spPr>
        <p:txBody>
          <a:bodyPr wrap="square" lIns="0" tIns="0" rIns="0" bIns="0" rtlCol="0" anchor="ctr"/>
          <a:lstStyle/>
          <a:p>
            <a:pPr marL="0" indent="0" algn="ctr">
              <a:buNone/>
            </a:pPr>
            <a:r>
              <a:rPr lang="en-US" sz="1100" i="1" dirty="0">
                <a:solidFill>
                  <a:srgbClr val="9B2335"/>
                </a:solidFill>
                <a:latin typeface="Calibri" pitchFamily="34" charset="0"/>
                <a:ea typeface="Calibri" pitchFamily="34" charset="-122"/>
                <a:cs typeface="Calibri" pitchFamily="34" charset="-120"/>
              </a:rPr>
              <a:t>Setting not configured  ·  STIG fails</a:t>
            </a:r>
            <a:endParaRPr lang="en-US" sz="1100" dirty="0"/>
          </a:p>
        </p:txBody>
      </p:sp>
      <p:sp>
        <p:nvSpPr>
          <p:cNvPr id="12" name="Text 10"/>
          <p:cNvSpPr/>
          <p:nvPr/>
        </p:nvSpPr>
        <p:spPr>
          <a:xfrm>
            <a:off x="4297680" y="2468880"/>
            <a:ext cx="548640" cy="457200"/>
          </a:xfrm>
          <a:prstGeom prst="rect">
            <a:avLst/>
          </a:prstGeom>
          <a:noFill/>
          <a:ln/>
        </p:spPr>
        <p:txBody>
          <a:bodyPr wrap="square" lIns="0" tIns="0" rIns="0" bIns="0" rtlCol="0" anchor="ctr"/>
          <a:lstStyle/>
          <a:p>
            <a:pPr marL="0" indent="0" algn="ctr">
              <a:buNone/>
            </a:pPr>
            <a:r>
              <a:rPr lang="en-US" sz="2400" b="1" dirty="0">
                <a:solidFill>
                  <a:srgbClr val="0B7A8C"/>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4727448" y="1298448"/>
            <a:ext cx="4069080" cy="278892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4727448" y="1298448"/>
            <a:ext cx="4069080" cy="402336"/>
          </a:xfrm>
          <a:prstGeom prst="rect">
            <a:avLst/>
          </a:prstGeom>
          <a:solidFill>
            <a:srgbClr val="1B7A4C"/>
          </a:solidFill>
          <a:ln w="12700">
            <a:solidFill>
              <a:srgbClr val="1B7A4C"/>
            </a:solidFill>
            <a:prstDash val="solid"/>
          </a:ln>
        </p:spPr>
        <p:txBody>
          <a:bodyPr/>
          <a:lstStyle/>
          <a:p>
            <a:endParaRPr lang="en-US"/>
          </a:p>
        </p:txBody>
      </p:sp>
      <p:sp>
        <p:nvSpPr>
          <p:cNvPr id="15" name="Text 13"/>
          <p:cNvSpPr/>
          <p:nvPr/>
        </p:nvSpPr>
        <p:spPr>
          <a:xfrm>
            <a:off x="4882896" y="1335024"/>
            <a:ext cx="3749040" cy="310896"/>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After – Control Passes</a:t>
            </a:r>
            <a:endParaRPr lang="en-US" sz="1300" dirty="0"/>
          </a:p>
        </p:txBody>
      </p:sp>
      <p:sp>
        <p:nvSpPr>
          <p:cNvPr id="16" name="Shape 14"/>
          <p:cNvSpPr/>
          <p:nvPr/>
        </p:nvSpPr>
        <p:spPr>
          <a:xfrm>
            <a:off x="4882896" y="1792224"/>
            <a:ext cx="3749040" cy="1664208"/>
          </a:xfrm>
          <a:prstGeom prst="rect">
            <a:avLst/>
          </a:prstGeom>
          <a:solidFill>
            <a:srgbClr val="D6E4F7"/>
          </a:solidFill>
          <a:ln w="12700">
            <a:solidFill>
              <a:srgbClr val="A8C4E0"/>
            </a:solidFill>
            <a:prstDash val="dash"/>
          </a:ln>
        </p:spPr>
        <p:txBody>
          <a:bodyPr/>
          <a:lstStyle/>
          <a:p>
            <a:endParaRPr lang="en-US"/>
          </a:p>
        </p:txBody>
      </p:sp>
      <p:sp>
        <p:nvSpPr>
          <p:cNvPr id="17" name="Text 15"/>
          <p:cNvSpPr/>
          <p:nvPr/>
        </p:nvSpPr>
        <p:spPr>
          <a:xfrm>
            <a:off x="4882896" y="1792224"/>
            <a:ext cx="3749040" cy="1664208"/>
          </a:xfrm>
          <a:prstGeom prst="rect">
            <a:avLst/>
          </a:prstGeom>
          <a:noFill/>
          <a:ln/>
        </p:spPr>
        <p:txBody>
          <a:bodyPr wrap="square" rtlCol="0" anchor="ctr"/>
          <a:lstStyle/>
          <a:p>
            <a:pPr marL="0" indent="0" algn="ctr">
              <a:buNone/>
            </a:pPr>
            <a:endParaRPr lang="en-US" sz="1100" i="1" dirty="0">
              <a:solidFill>
                <a:srgbClr val="5A80A8"/>
              </a:solidFill>
              <a:latin typeface="Calibri" pitchFamily="34" charset="0"/>
              <a:ea typeface="Calibri" pitchFamily="34" charset="-122"/>
              <a:cs typeface="Calibri" pitchFamily="34" charset="-120"/>
            </a:endParaRPr>
          </a:p>
          <a:p>
            <a:pPr marL="0" indent="0" algn="ctr">
              <a:buNone/>
            </a:pPr>
            <a:endParaRPr lang="en-US" sz="1100" i="1" dirty="0">
              <a:solidFill>
                <a:srgbClr val="5A80A8"/>
              </a:solidFill>
              <a:latin typeface="Calibri" pitchFamily="34" charset="0"/>
              <a:ea typeface="Calibri" pitchFamily="34" charset="-122"/>
              <a:cs typeface="Calibri" pitchFamily="34" charset="-120"/>
            </a:endParaRPr>
          </a:p>
        </p:txBody>
      </p:sp>
      <p:sp>
        <p:nvSpPr>
          <p:cNvPr id="18" name="Text 16"/>
          <p:cNvSpPr/>
          <p:nvPr/>
        </p:nvSpPr>
        <p:spPr>
          <a:xfrm>
            <a:off x="4882896" y="3493008"/>
            <a:ext cx="3749040" cy="347472"/>
          </a:xfrm>
          <a:prstGeom prst="rect">
            <a:avLst/>
          </a:prstGeom>
          <a:noFill/>
          <a:ln/>
        </p:spPr>
        <p:txBody>
          <a:bodyPr wrap="square" lIns="0" tIns="0" rIns="0" bIns="0" rtlCol="0" anchor="ctr"/>
          <a:lstStyle/>
          <a:p>
            <a:pPr marL="0" indent="0" algn="ctr">
              <a:buNone/>
            </a:pPr>
            <a:r>
              <a:rPr lang="en-US" sz="1100" i="1" dirty="0">
                <a:solidFill>
                  <a:srgbClr val="1B7A4C"/>
                </a:solidFill>
                <a:latin typeface="Calibri" pitchFamily="34" charset="0"/>
                <a:ea typeface="Calibri" pitchFamily="34" charset="-122"/>
                <a:cs typeface="Calibri" pitchFamily="34" charset="-120"/>
              </a:rPr>
              <a:t>Control passes  ·  No disruption  ·  Support tools intact</a:t>
            </a:r>
            <a:endParaRPr lang="en-US" sz="1100" dirty="0"/>
          </a:p>
        </p:txBody>
      </p:sp>
      <p:sp>
        <p:nvSpPr>
          <p:cNvPr id="19" name="Text 17"/>
          <p:cNvSpPr/>
          <p:nvPr/>
        </p:nvSpPr>
        <p:spPr>
          <a:xfrm>
            <a:off x="347472" y="4224528"/>
            <a:ext cx="8430768" cy="768096"/>
          </a:xfrm>
          <a:prstGeom prst="rect">
            <a:avLst/>
          </a:prstGeom>
          <a:noFill/>
          <a:ln/>
        </p:spPr>
        <p:txBody>
          <a:bodyPr wrap="square" lIns="0" tIns="0" rIns="0" bIns="0" rtlCol="0" anchor="t"/>
          <a:lstStyle/>
          <a:p>
            <a:pPr marL="342900" indent="-342900" algn="l">
              <a:spcAft>
                <a:spcPts val="300"/>
              </a:spcAft>
              <a:buSzPct val="100000"/>
              <a:buChar char="•"/>
            </a:pPr>
            <a:r>
              <a:rPr lang="en-US" sz="1200" dirty="0">
                <a:solidFill>
                  <a:srgbClr val="3A4A6B"/>
                </a:solidFill>
                <a:latin typeface="Calibri" pitchFamily="34" charset="0"/>
                <a:ea typeface="Calibri" pitchFamily="34" charset="-122"/>
                <a:cs typeface="Calibri" pitchFamily="34" charset="-120"/>
              </a:rPr>
              <a:t>Registry key confirmed applied via GPO</a:t>
            </a:r>
            <a:endParaRPr lang="en-US" sz="1200" dirty="0"/>
          </a:p>
          <a:p>
            <a:pPr marL="342900" indent="-342900" algn="l">
              <a:spcAft>
                <a:spcPts val="300"/>
              </a:spcAft>
              <a:buSzPct val="100000"/>
              <a:buChar char="•"/>
            </a:pPr>
            <a:r>
              <a:rPr lang="en-US" sz="1200" dirty="0">
                <a:solidFill>
                  <a:srgbClr val="3A4A6B"/>
                </a:solidFill>
                <a:latin typeface="Calibri" pitchFamily="34" charset="0"/>
                <a:ea typeface="Calibri" pitchFamily="34" charset="-122"/>
                <a:cs typeface="Calibri" pitchFamily="34" charset="-120"/>
              </a:rPr>
              <a:t>STIG scan passes on re-test</a:t>
            </a:r>
            <a:endParaRPr lang="en-US" sz="1200" dirty="0"/>
          </a:p>
          <a:p>
            <a:pPr marL="342900" indent="-342900" algn="l">
              <a:spcAft>
                <a:spcPts val="300"/>
              </a:spcAft>
              <a:buSzPct val="100000"/>
              <a:buChar char="•"/>
            </a:pPr>
            <a:r>
              <a:rPr lang="en-US" sz="1200" dirty="0">
                <a:solidFill>
                  <a:srgbClr val="3A4A6B"/>
                </a:solidFill>
                <a:latin typeface="Calibri" pitchFamily="34" charset="0"/>
                <a:ea typeface="Calibri" pitchFamily="34" charset="-122"/>
                <a:cs typeface="Calibri" pitchFamily="34" charset="-120"/>
              </a:rPr>
              <a:t>Remote access and help desk tools verified functional</a:t>
            </a:r>
            <a:endParaRPr lang="en-US" sz="1200" dirty="0"/>
          </a:p>
          <a:p>
            <a:pPr marL="342900" indent="-342900" algn="l">
              <a:spcAft>
                <a:spcPts val="300"/>
              </a:spcAft>
              <a:buSzPct val="100000"/>
              <a:buChar char="•"/>
            </a:pPr>
            <a:r>
              <a:rPr lang="en-US" sz="1200" dirty="0">
                <a:solidFill>
                  <a:srgbClr val="3A4A6B"/>
                </a:solidFill>
                <a:latin typeface="Calibri" pitchFamily="34" charset="0"/>
                <a:ea typeface="Calibri" pitchFamily="34" charset="-122"/>
                <a:cs typeface="Calibri" pitchFamily="34" charset="-120"/>
              </a:rPr>
              <a:t>Smoke test checklist completed — all items pass</a:t>
            </a:r>
            <a:endParaRPr lang="en-US" sz="1200" dirty="0"/>
          </a:p>
        </p:txBody>
      </p:sp>
      <p:pic>
        <p:nvPicPr>
          <p:cNvPr id="21" name="Picture 20">
            <a:extLst>
              <a:ext uri="{FF2B5EF4-FFF2-40B4-BE49-F238E27FC236}">
                <a16:creationId xmlns:a16="http://schemas.microsoft.com/office/drawing/2014/main" id="{3CDDD35B-42D4-3CC1-36CD-1A4D513FDF72}"/>
              </a:ext>
            </a:extLst>
          </p:cNvPr>
          <p:cNvPicPr>
            <a:picLocks noChangeAspect="1"/>
          </p:cNvPicPr>
          <p:nvPr/>
        </p:nvPicPr>
        <p:blipFill>
          <a:blip r:embed="rId3"/>
          <a:srcRect r="39654" b="82661"/>
          <a:stretch>
            <a:fillRect/>
          </a:stretch>
        </p:blipFill>
        <p:spPr>
          <a:xfrm>
            <a:off x="512064" y="1814704"/>
            <a:ext cx="3739896" cy="138194"/>
          </a:xfrm>
          <a:prstGeom prst="rect">
            <a:avLst/>
          </a:prstGeom>
        </p:spPr>
      </p:pic>
      <p:pic>
        <p:nvPicPr>
          <p:cNvPr id="23" name="Picture 22">
            <a:extLst>
              <a:ext uri="{FF2B5EF4-FFF2-40B4-BE49-F238E27FC236}">
                <a16:creationId xmlns:a16="http://schemas.microsoft.com/office/drawing/2014/main" id="{5C354C25-C24F-BCE3-D027-4C29B58A87CB}"/>
              </a:ext>
            </a:extLst>
          </p:cNvPr>
          <p:cNvPicPr>
            <a:picLocks noChangeAspect="1"/>
          </p:cNvPicPr>
          <p:nvPr/>
        </p:nvPicPr>
        <p:blipFill>
          <a:blip r:embed="rId4"/>
          <a:srcRect r="3037"/>
          <a:stretch>
            <a:fillRect/>
          </a:stretch>
        </p:blipFill>
        <p:spPr>
          <a:xfrm>
            <a:off x="4882897" y="1814704"/>
            <a:ext cx="3758183" cy="121884"/>
          </a:xfrm>
          <a:prstGeom prst="rect">
            <a:avLst/>
          </a:prstGeom>
        </p:spPr>
      </p:pic>
      <p:pic>
        <p:nvPicPr>
          <p:cNvPr id="25" name="Picture 24">
            <a:extLst>
              <a:ext uri="{FF2B5EF4-FFF2-40B4-BE49-F238E27FC236}">
                <a16:creationId xmlns:a16="http://schemas.microsoft.com/office/drawing/2014/main" id="{F369A06D-2958-710E-A348-EA707E20EB8D}"/>
              </a:ext>
            </a:extLst>
          </p:cNvPr>
          <p:cNvPicPr>
            <a:picLocks noChangeAspect="1"/>
          </p:cNvPicPr>
          <p:nvPr/>
        </p:nvPicPr>
        <p:blipFill>
          <a:blip r:embed="rId5"/>
          <a:srcRect r="4713"/>
          <a:stretch>
            <a:fillRect/>
          </a:stretch>
        </p:blipFill>
        <p:spPr>
          <a:xfrm>
            <a:off x="502919" y="2414016"/>
            <a:ext cx="3739897" cy="195712"/>
          </a:xfrm>
          <a:prstGeom prst="rect">
            <a:avLst/>
          </a:prstGeom>
        </p:spPr>
      </p:pic>
      <p:pic>
        <p:nvPicPr>
          <p:cNvPr id="27" name="Picture 26">
            <a:extLst>
              <a:ext uri="{FF2B5EF4-FFF2-40B4-BE49-F238E27FC236}">
                <a16:creationId xmlns:a16="http://schemas.microsoft.com/office/drawing/2014/main" id="{764DCF02-9BDE-A8B5-52DE-2AF71E14B38C}"/>
              </a:ext>
            </a:extLst>
          </p:cNvPr>
          <p:cNvPicPr>
            <a:picLocks noChangeAspect="1"/>
          </p:cNvPicPr>
          <p:nvPr/>
        </p:nvPicPr>
        <p:blipFill>
          <a:blip r:embed="rId6"/>
          <a:srcRect r="6530"/>
          <a:stretch>
            <a:fillRect/>
          </a:stretch>
        </p:blipFill>
        <p:spPr>
          <a:xfrm>
            <a:off x="4892040" y="2393788"/>
            <a:ext cx="3749039" cy="203108"/>
          </a:xfrm>
          <a:prstGeom prst="rect">
            <a:avLst/>
          </a:prstGeom>
        </p:spPr>
      </p:pic>
      <p:pic>
        <p:nvPicPr>
          <p:cNvPr id="29" name="Picture 28">
            <a:extLst>
              <a:ext uri="{FF2B5EF4-FFF2-40B4-BE49-F238E27FC236}">
                <a16:creationId xmlns:a16="http://schemas.microsoft.com/office/drawing/2014/main" id="{FA783C93-81E8-3A03-CA0B-20D0BD2D1F91}"/>
              </a:ext>
            </a:extLst>
          </p:cNvPr>
          <p:cNvPicPr>
            <a:picLocks noChangeAspect="1"/>
          </p:cNvPicPr>
          <p:nvPr/>
        </p:nvPicPr>
        <p:blipFill>
          <a:blip r:embed="rId7"/>
          <a:srcRect t="1" r="17149" b="3289"/>
          <a:stretch>
            <a:fillRect/>
          </a:stretch>
        </p:blipFill>
        <p:spPr>
          <a:xfrm>
            <a:off x="512064" y="2094518"/>
            <a:ext cx="3749040" cy="138194"/>
          </a:xfrm>
          <a:prstGeom prst="rect">
            <a:avLst/>
          </a:prstGeom>
        </p:spPr>
      </p:pic>
      <p:pic>
        <p:nvPicPr>
          <p:cNvPr id="31" name="Picture 30">
            <a:extLst>
              <a:ext uri="{FF2B5EF4-FFF2-40B4-BE49-F238E27FC236}">
                <a16:creationId xmlns:a16="http://schemas.microsoft.com/office/drawing/2014/main" id="{D71931E7-3122-1E67-E964-7E537E16C126}"/>
              </a:ext>
            </a:extLst>
          </p:cNvPr>
          <p:cNvPicPr>
            <a:picLocks noChangeAspect="1"/>
          </p:cNvPicPr>
          <p:nvPr/>
        </p:nvPicPr>
        <p:blipFill>
          <a:blip r:embed="rId8"/>
          <a:srcRect t="1" r="20529" b="3392"/>
          <a:stretch>
            <a:fillRect/>
          </a:stretch>
        </p:blipFill>
        <p:spPr>
          <a:xfrm>
            <a:off x="4892041" y="2090973"/>
            <a:ext cx="3739896" cy="165655"/>
          </a:xfrm>
          <a:prstGeom prst="rect">
            <a:avLst/>
          </a:prstGeom>
        </p:spPr>
      </p:pic>
      <p:pic>
        <p:nvPicPr>
          <p:cNvPr id="37" name="Picture 36">
            <a:extLst>
              <a:ext uri="{FF2B5EF4-FFF2-40B4-BE49-F238E27FC236}">
                <a16:creationId xmlns:a16="http://schemas.microsoft.com/office/drawing/2014/main" id="{DE3A4E3A-B9E7-7206-6971-D1DBD574EABC}"/>
              </a:ext>
            </a:extLst>
          </p:cNvPr>
          <p:cNvPicPr>
            <a:picLocks noChangeAspect="1"/>
          </p:cNvPicPr>
          <p:nvPr/>
        </p:nvPicPr>
        <p:blipFill>
          <a:blip r:embed="rId9"/>
          <a:stretch>
            <a:fillRect/>
          </a:stretch>
        </p:blipFill>
        <p:spPr>
          <a:xfrm>
            <a:off x="498347" y="2760516"/>
            <a:ext cx="3749040" cy="211015"/>
          </a:xfrm>
          <a:prstGeom prst="rect">
            <a:avLst/>
          </a:prstGeom>
        </p:spPr>
      </p:pic>
      <p:pic>
        <p:nvPicPr>
          <p:cNvPr id="39" name="Picture 38">
            <a:extLst>
              <a:ext uri="{FF2B5EF4-FFF2-40B4-BE49-F238E27FC236}">
                <a16:creationId xmlns:a16="http://schemas.microsoft.com/office/drawing/2014/main" id="{1E842743-A078-B35D-DAAD-5FAEE8C28E81}"/>
              </a:ext>
            </a:extLst>
          </p:cNvPr>
          <p:cNvPicPr>
            <a:picLocks noChangeAspect="1"/>
          </p:cNvPicPr>
          <p:nvPr/>
        </p:nvPicPr>
        <p:blipFill>
          <a:blip r:embed="rId10"/>
          <a:stretch>
            <a:fillRect/>
          </a:stretch>
        </p:blipFill>
        <p:spPr>
          <a:xfrm>
            <a:off x="4892041" y="2760516"/>
            <a:ext cx="3776471" cy="2187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Governance &amp; Tracking Tool</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Centralised platform for decisions, evidence, and rollback documentation</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7" name="Shape 5"/>
          <p:cNvSpPr/>
          <p:nvPr/>
        </p:nvSpPr>
        <p:spPr>
          <a:xfrm>
            <a:off x="475488" y="1408176"/>
            <a:ext cx="420624" cy="420624"/>
          </a:xfrm>
          <a:prstGeom prst="ellipse">
            <a:avLst/>
          </a:prstGeom>
          <a:solidFill>
            <a:srgbClr val="0B7A8C"/>
          </a:solidFill>
          <a:ln w="19050">
            <a:solidFill>
              <a:srgbClr val="084D5E"/>
            </a:solidFill>
            <a:prstDash val="solid"/>
          </a:ln>
        </p:spPr>
        <p:txBody>
          <a:bodyPr/>
          <a:lstStyle/>
          <a:p>
            <a:endParaRPr lang="en-US"/>
          </a:p>
        </p:txBody>
      </p:sp>
      <p:sp>
        <p:nvSpPr>
          <p:cNvPr id="8" name="Shape 6"/>
          <p:cNvSpPr/>
          <p:nvPr/>
        </p:nvSpPr>
        <p:spPr>
          <a:xfrm>
            <a:off x="548640" y="1481328"/>
            <a:ext cx="274320" cy="274320"/>
          </a:xfrm>
          <a:prstGeom prst="rect">
            <a:avLst/>
          </a:prstGeom>
          <a:solidFill>
            <a:srgbClr val="0B7A8C"/>
          </a:solidFill>
          <a:ln w="12700">
            <a:solidFill>
              <a:srgbClr val="0B7A8C"/>
            </a:solidFill>
            <a:prstDash val="solid"/>
          </a:ln>
        </p:spPr>
        <p:txBody>
          <a:bodyPr/>
          <a:lstStyle/>
          <a:p>
            <a:endParaRPr lang="en-US"/>
          </a:p>
        </p:txBody>
      </p:sp>
      <p:sp>
        <p:nvSpPr>
          <p:cNvPr id="9" name="Text 7"/>
          <p:cNvSpPr/>
          <p:nvPr/>
        </p:nvSpPr>
        <p:spPr>
          <a:xfrm>
            <a:off x="1005840" y="1389888"/>
            <a:ext cx="1956816" cy="32004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Tier Classification</a:t>
            </a:r>
            <a:endParaRPr lang="en-US" sz="1200" dirty="0"/>
          </a:p>
        </p:txBody>
      </p:sp>
      <p:sp>
        <p:nvSpPr>
          <p:cNvPr id="10" name="Text 8"/>
          <p:cNvSpPr/>
          <p:nvPr/>
        </p:nvSpPr>
        <p:spPr>
          <a:xfrm>
            <a:off x="475488" y="1920240"/>
            <a:ext cx="2487168" cy="621792"/>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All controls organised by Tier 1, 2, and 3 with category filtering</a:t>
            </a:r>
            <a:endParaRPr lang="en-US" sz="1100" dirty="0"/>
          </a:p>
        </p:txBody>
      </p:sp>
      <p:sp>
        <p:nvSpPr>
          <p:cNvPr id="12" name="Shape 10"/>
          <p:cNvSpPr/>
          <p:nvPr/>
        </p:nvSpPr>
        <p:spPr>
          <a:xfrm>
            <a:off x="3419856" y="1408176"/>
            <a:ext cx="420624" cy="420624"/>
          </a:xfrm>
          <a:prstGeom prst="ellipse">
            <a:avLst/>
          </a:prstGeom>
          <a:solidFill>
            <a:srgbClr val="0B7A8C"/>
          </a:solidFill>
          <a:ln w="19050">
            <a:solidFill>
              <a:srgbClr val="084D5E"/>
            </a:solidFill>
            <a:prstDash val="solid"/>
          </a:ln>
        </p:spPr>
        <p:txBody>
          <a:bodyPr/>
          <a:lstStyle/>
          <a:p>
            <a:endParaRPr lang="en-US"/>
          </a:p>
        </p:txBody>
      </p:sp>
      <p:sp>
        <p:nvSpPr>
          <p:cNvPr id="13" name="Shape 11"/>
          <p:cNvSpPr/>
          <p:nvPr/>
        </p:nvSpPr>
        <p:spPr>
          <a:xfrm>
            <a:off x="3493008" y="1481328"/>
            <a:ext cx="274320" cy="274320"/>
          </a:xfrm>
          <a:prstGeom prst="rect">
            <a:avLst/>
          </a:prstGeom>
          <a:solidFill>
            <a:srgbClr val="0B7A8C"/>
          </a:solidFill>
          <a:ln w="12700">
            <a:solidFill>
              <a:srgbClr val="0B7A8C"/>
            </a:solidFill>
            <a:prstDash val="solid"/>
          </a:ln>
        </p:spPr>
        <p:txBody>
          <a:bodyPr/>
          <a:lstStyle/>
          <a:p>
            <a:endParaRPr lang="en-US"/>
          </a:p>
        </p:txBody>
      </p:sp>
      <p:sp>
        <p:nvSpPr>
          <p:cNvPr id="14" name="Text 12"/>
          <p:cNvSpPr/>
          <p:nvPr/>
        </p:nvSpPr>
        <p:spPr>
          <a:xfrm>
            <a:off x="3950208" y="1389888"/>
            <a:ext cx="1956816" cy="32004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Owner Tagging</a:t>
            </a:r>
            <a:endParaRPr lang="en-US" sz="1200" dirty="0"/>
          </a:p>
        </p:txBody>
      </p:sp>
      <p:sp>
        <p:nvSpPr>
          <p:cNvPr id="15" name="Text 13"/>
          <p:cNvSpPr/>
          <p:nvPr/>
        </p:nvSpPr>
        <p:spPr>
          <a:xfrm>
            <a:off x="3419856" y="1920240"/>
            <a:ext cx="2487168" cy="621792"/>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Each control assigned to EUC, Infrastructure, Network, or Security</a:t>
            </a:r>
            <a:endParaRPr lang="en-US" sz="1100" dirty="0"/>
          </a:p>
        </p:txBody>
      </p:sp>
      <p:sp>
        <p:nvSpPr>
          <p:cNvPr id="17" name="Shape 15"/>
          <p:cNvSpPr/>
          <p:nvPr/>
        </p:nvSpPr>
        <p:spPr>
          <a:xfrm>
            <a:off x="6364224" y="1408176"/>
            <a:ext cx="420624" cy="420624"/>
          </a:xfrm>
          <a:prstGeom prst="ellipse">
            <a:avLst/>
          </a:prstGeom>
          <a:solidFill>
            <a:srgbClr val="0B7A8C"/>
          </a:solidFill>
          <a:ln w="19050">
            <a:solidFill>
              <a:srgbClr val="084D5E"/>
            </a:solidFill>
            <a:prstDash val="solid"/>
          </a:ln>
        </p:spPr>
        <p:txBody>
          <a:bodyPr/>
          <a:lstStyle/>
          <a:p>
            <a:endParaRPr lang="en-US"/>
          </a:p>
        </p:txBody>
      </p:sp>
      <p:sp>
        <p:nvSpPr>
          <p:cNvPr id="18" name="Shape 16"/>
          <p:cNvSpPr/>
          <p:nvPr/>
        </p:nvSpPr>
        <p:spPr>
          <a:xfrm>
            <a:off x="6437376" y="1481328"/>
            <a:ext cx="274320" cy="274320"/>
          </a:xfrm>
          <a:prstGeom prst="rect">
            <a:avLst/>
          </a:prstGeom>
          <a:solidFill>
            <a:srgbClr val="0B7A8C"/>
          </a:solidFill>
          <a:ln w="12700">
            <a:solidFill>
              <a:srgbClr val="0B7A8C"/>
            </a:solidFill>
            <a:prstDash val="solid"/>
          </a:ln>
        </p:spPr>
        <p:txBody>
          <a:bodyPr/>
          <a:lstStyle/>
          <a:p>
            <a:endParaRPr lang="en-US"/>
          </a:p>
        </p:txBody>
      </p:sp>
      <p:sp>
        <p:nvSpPr>
          <p:cNvPr id="19" name="Text 17"/>
          <p:cNvSpPr/>
          <p:nvPr/>
        </p:nvSpPr>
        <p:spPr>
          <a:xfrm>
            <a:off x="6894576" y="1389888"/>
            <a:ext cx="1956816" cy="32004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Decision Workflow</a:t>
            </a:r>
            <a:endParaRPr lang="en-US" sz="1200" dirty="0"/>
          </a:p>
        </p:txBody>
      </p:sp>
      <p:sp>
        <p:nvSpPr>
          <p:cNvPr id="20" name="Text 18"/>
          <p:cNvSpPr/>
          <p:nvPr/>
        </p:nvSpPr>
        <p:spPr>
          <a:xfrm>
            <a:off x="6364224" y="1920240"/>
            <a:ext cx="2487168" cy="621792"/>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Approve / Conditional / Reject status with documented rationale</a:t>
            </a:r>
            <a:endParaRPr lang="en-US" sz="1100" dirty="0"/>
          </a:p>
        </p:txBody>
      </p:sp>
      <p:sp>
        <p:nvSpPr>
          <p:cNvPr id="22" name="Shape 20"/>
          <p:cNvSpPr/>
          <p:nvPr/>
        </p:nvSpPr>
        <p:spPr>
          <a:xfrm>
            <a:off x="475488" y="2916936"/>
            <a:ext cx="420624" cy="420624"/>
          </a:xfrm>
          <a:prstGeom prst="ellipse">
            <a:avLst/>
          </a:prstGeom>
          <a:solidFill>
            <a:srgbClr val="0B7A8C"/>
          </a:solidFill>
          <a:ln w="19050">
            <a:solidFill>
              <a:srgbClr val="084D5E"/>
            </a:solidFill>
            <a:prstDash val="solid"/>
          </a:ln>
        </p:spPr>
        <p:txBody>
          <a:bodyPr/>
          <a:lstStyle/>
          <a:p>
            <a:endParaRPr lang="en-US"/>
          </a:p>
        </p:txBody>
      </p:sp>
      <p:sp>
        <p:nvSpPr>
          <p:cNvPr id="23" name="Shape 21"/>
          <p:cNvSpPr/>
          <p:nvPr/>
        </p:nvSpPr>
        <p:spPr>
          <a:xfrm>
            <a:off x="548640" y="2990088"/>
            <a:ext cx="274320" cy="274320"/>
          </a:xfrm>
          <a:prstGeom prst="rect">
            <a:avLst/>
          </a:prstGeom>
          <a:solidFill>
            <a:srgbClr val="0B7A8C"/>
          </a:solidFill>
          <a:ln w="12700">
            <a:solidFill>
              <a:srgbClr val="0B7A8C"/>
            </a:solidFill>
            <a:prstDash val="solid"/>
          </a:ln>
        </p:spPr>
        <p:txBody>
          <a:bodyPr/>
          <a:lstStyle/>
          <a:p>
            <a:endParaRPr lang="en-US"/>
          </a:p>
        </p:txBody>
      </p:sp>
      <p:sp>
        <p:nvSpPr>
          <p:cNvPr id="24" name="Text 22"/>
          <p:cNvSpPr/>
          <p:nvPr/>
        </p:nvSpPr>
        <p:spPr>
          <a:xfrm>
            <a:off x="1005840" y="2898648"/>
            <a:ext cx="1956816" cy="32004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Pre / Post State Tracking</a:t>
            </a:r>
            <a:endParaRPr lang="en-US" sz="1200" dirty="0"/>
          </a:p>
        </p:txBody>
      </p:sp>
      <p:sp>
        <p:nvSpPr>
          <p:cNvPr id="25" name="Text 23"/>
          <p:cNvSpPr/>
          <p:nvPr/>
        </p:nvSpPr>
        <p:spPr>
          <a:xfrm>
            <a:off x="475488" y="3429000"/>
            <a:ext cx="2487168" cy="621792"/>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Before and after screenshots and registry states stored per control</a:t>
            </a:r>
            <a:endParaRPr lang="en-US" sz="1100" dirty="0"/>
          </a:p>
        </p:txBody>
      </p:sp>
      <p:sp>
        <p:nvSpPr>
          <p:cNvPr id="27" name="Shape 25"/>
          <p:cNvSpPr/>
          <p:nvPr/>
        </p:nvSpPr>
        <p:spPr>
          <a:xfrm>
            <a:off x="3419856" y="2916936"/>
            <a:ext cx="420624" cy="420624"/>
          </a:xfrm>
          <a:prstGeom prst="ellipse">
            <a:avLst/>
          </a:prstGeom>
          <a:solidFill>
            <a:srgbClr val="0B7A8C"/>
          </a:solidFill>
          <a:ln w="19050">
            <a:solidFill>
              <a:srgbClr val="084D5E"/>
            </a:solidFill>
            <a:prstDash val="solid"/>
          </a:ln>
        </p:spPr>
        <p:txBody>
          <a:bodyPr/>
          <a:lstStyle/>
          <a:p>
            <a:endParaRPr lang="en-US"/>
          </a:p>
        </p:txBody>
      </p:sp>
      <p:sp>
        <p:nvSpPr>
          <p:cNvPr id="28" name="Shape 26"/>
          <p:cNvSpPr/>
          <p:nvPr/>
        </p:nvSpPr>
        <p:spPr>
          <a:xfrm>
            <a:off x="3493008" y="2990088"/>
            <a:ext cx="274320" cy="274320"/>
          </a:xfrm>
          <a:prstGeom prst="rect">
            <a:avLst/>
          </a:prstGeom>
          <a:solidFill>
            <a:srgbClr val="0B7A8C"/>
          </a:solidFill>
          <a:ln w="12700">
            <a:solidFill>
              <a:srgbClr val="0B7A8C"/>
            </a:solidFill>
            <a:prstDash val="solid"/>
          </a:ln>
        </p:spPr>
        <p:txBody>
          <a:bodyPr/>
          <a:lstStyle/>
          <a:p>
            <a:endParaRPr lang="en-US"/>
          </a:p>
        </p:txBody>
      </p:sp>
      <p:sp>
        <p:nvSpPr>
          <p:cNvPr id="29" name="Text 27"/>
          <p:cNvSpPr/>
          <p:nvPr/>
        </p:nvSpPr>
        <p:spPr>
          <a:xfrm>
            <a:off x="3950208" y="2898648"/>
            <a:ext cx="1956816" cy="32004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Smoke Test Notes</a:t>
            </a:r>
            <a:endParaRPr lang="en-US" sz="1200" dirty="0"/>
          </a:p>
        </p:txBody>
      </p:sp>
      <p:sp>
        <p:nvSpPr>
          <p:cNvPr id="30" name="Text 28"/>
          <p:cNvSpPr/>
          <p:nvPr/>
        </p:nvSpPr>
        <p:spPr>
          <a:xfrm>
            <a:off x="3419856" y="3429000"/>
            <a:ext cx="2487168" cy="621792"/>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Structured checklist results recorded for every deployment batch</a:t>
            </a:r>
            <a:endParaRPr lang="en-US" sz="1100" dirty="0"/>
          </a:p>
        </p:txBody>
      </p:sp>
      <p:sp>
        <p:nvSpPr>
          <p:cNvPr id="32" name="Shape 30"/>
          <p:cNvSpPr/>
          <p:nvPr/>
        </p:nvSpPr>
        <p:spPr>
          <a:xfrm>
            <a:off x="6364224" y="2916936"/>
            <a:ext cx="420624" cy="420624"/>
          </a:xfrm>
          <a:prstGeom prst="ellipse">
            <a:avLst/>
          </a:prstGeom>
          <a:solidFill>
            <a:srgbClr val="0B7A8C"/>
          </a:solidFill>
          <a:ln w="19050">
            <a:solidFill>
              <a:srgbClr val="084D5E"/>
            </a:solidFill>
            <a:prstDash val="solid"/>
          </a:ln>
        </p:spPr>
        <p:txBody>
          <a:bodyPr/>
          <a:lstStyle/>
          <a:p>
            <a:endParaRPr lang="en-US"/>
          </a:p>
        </p:txBody>
      </p:sp>
      <p:sp>
        <p:nvSpPr>
          <p:cNvPr id="33" name="Shape 31"/>
          <p:cNvSpPr/>
          <p:nvPr/>
        </p:nvSpPr>
        <p:spPr>
          <a:xfrm>
            <a:off x="6437376" y="2990088"/>
            <a:ext cx="274320" cy="274320"/>
          </a:xfrm>
          <a:prstGeom prst="rect">
            <a:avLst/>
          </a:prstGeom>
          <a:solidFill>
            <a:srgbClr val="0B7A8C"/>
          </a:solidFill>
          <a:ln w="12700">
            <a:solidFill>
              <a:srgbClr val="0B7A8C"/>
            </a:solidFill>
            <a:prstDash val="solid"/>
          </a:ln>
        </p:spPr>
        <p:txBody>
          <a:bodyPr/>
          <a:lstStyle/>
          <a:p>
            <a:endParaRPr lang="en-US"/>
          </a:p>
        </p:txBody>
      </p:sp>
      <p:sp>
        <p:nvSpPr>
          <p:cNvPr id="34" name="Text 32"/>
          <p:cNvSpPr/>
          <p:nvPr/>
        </p:nvSpPr>
        <p:spPr>
          <a:xfrm>
            <a:off x="6894576" y="2898648"/>
            <a:ext cx="1956816" cy="32004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Rollback Documentation</a:t>
            </a:r>
            <a:endParaRPr lang="en-US" sz="1200" dirty="0"/>
          </a:p>
        </p:txBody>
      </p:sp>
      <p:sp>
        <p:nvSpPr>
          <p:cNvPr id="35" name="Text 33"/>
          <p:cNvSpPr/>
          <p:nvPr/>
        </p:nvSpPr>
        <p:spPr>
          <a:xfrm>
            <a:off x="6364224" y="3429000"/>
            <a:ext cx="2487168" cy="621792"/>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Reversal steps documented and tested before any production deployment</a:t>
            </a:r>
            <a:endParaRPr lang="en-US" sz="1100" dirty="0"/>
          </a:p>
        </p:txBody>
      </p:sp>
      <p:sp>
        <p:nvSpPr>
          <p:cNvPr id="36" name="Shape 34"/>
          <p:cNvSpPr/>
          <p:nvPr/>
        </p:nvSpPr>
        <p:spPr>
          <a:xfrm>
            <a:off x="347472" y="4407408"/>
            <a:ext cx="2651760" cy="594360"/>
          </a:xfrm>
          <a:prstGeom prst="rect">
            <a:avLst/>
          </a:prstGeom>
          <a:solidFill>
            <a:srgbClr val="D6E4F7"/>
          </a:solidFill>
          <a:ln w="12700">
            <a:solidFill>
              <a:srgbClr val="A8C4E0"/>
            </a:solidFill>
            <a:prstDash val="dash"/>
          </a:ln>
        </p:spPr>
        <p:txBody>
          <a:bodyPr/>
          <a:lstStyle/>
          <a:p>
            <a:endParaRPr lang="en-US"/>
          </a:p>
        </p:txBody>
      </p:sp>
      <p:sp>
        <p:nvSpPr>
          <p:cNvPr id="37" name="Text 35"/>
          <p:cNvSpPr/>
          <p:nvPr/>
        </p:nvSpPr>
        <p:spPr>
          <a:xfrm>
            <a:off x="347472" y="4407408"/>
            <a:ext cx="2651760" cy="594360"/>
          </a:xfrm>
          <a:prstGeom prst="rect">
            <a:avLst/>
          </a:prstGeom>
          <a:noFill/>
          <a:ln/>
        </p:spPr>
        <p:txBody>
          <a:bodyPr wrap="square" rtlCol="0" anchor="ctr"/>
          <a:lstStyle/>
          <a:p>
            <a:pPr marL="0" indent="0" algn="ctr">
              <a:buNone/>
            </a:pPr>
            <a:r>
              <a:rPr lang="en-US" sz="1100" i="1" dirty="0">
                <a:solidFill>
                  <a:srgbClr val="5A80A8"/>
                </a:solidFill>
                <a:latin typeface="Calibri" pitchFamily="34" charset="0"/>
                <a:ea typeface="Calibri" pitchFamily="34" charset="-122"/>
                <a:cs typeface="Calibri" pitchFamily="34" charset="-120"/>
              </a:rPr>
              <a:t>[ INSERT: Web App Dashboard ]</a:t>
            </a:r>
            <a:endParaRPr lang="en-US" sz="1100" dirty="0"/>
          </a:p>
        </p:txBody>
      </p:sp>
      <p:sp>
        <p:nvSpPr>
          <p:cNvPr id="38" name="Shape 36"/>
          <p:cNvSpPr/>
          <p:nvPr/>
        </p:nvSpPr>
        <p:spPr>
          <a:xfrm>
            <a:off x="3246120" y="4407408"/>
            <a:ext cx="2651760" cy="594360"/>
          </a:xfrm>
          <a:prstGeom prst="rect">
            <a:avLst/>
          </a:prstGeom>
          <a:solidFill>
            <a:srgbClr val="D6E4F7"/>
          </a:solidFill>
          <a:ln w="12700">
            <a:solidFill>
              <a:srgbClr val="A8C4E0"/>
            </a:solidFill>
            <a:prstDash val="dash"/>
          </a:ln>
        </p:spPr>
        <p:txBody>
          <a:bodyPr/>
          <a:lstStyle/>
          <a:p>
            <a:endParaRPr lang="en-US"/>
          </a:p>
        </p:txBody>
      </p:sp>
      <p:sp>
        <p:nvSpPr>
          <p:cNvPr id="39" name="Text 37"/>
          <p:cNvSpPr/>
          <p:nvPr/>
        </p:nvSpPr>
        <p:spPr>
          <a:xfrm>
            <a:off x="3246120" y="4407408"/>
            <a:ext cx="2651760" cy="594360"/>
          </a:xfrm>
          <a:prstGeom prst="rect">
            <a:avLst/>
          </a:prstGeom>
          <a:noFill/>
          <a:ln/>
        </p:spPr>
        <p:txBody>
          <a:bodyPr wrap="square" rtlCol="0" anchor="ctr"/>
          <a:lstStyle/>
          <a:p>
            <a:pPr marL="0" indent="0" algn="ctr">
              <a:buNone/>
            </a:pPr>
            <a:r>
              <a:rPr lang="en-US" sz="1100" i="1" dirty="0">
                <a:solidFill>
                  <a:srgbClr val="5A80A8"/>
                </a:solidFill>
                <a:latin typeface="Calibri" pitchFamily="34" charset="0"/>
                <a:ea typeface="Calibri" pitchFamily="34" charset="-122"/>
                <a:cs typeface="Calibri" pitchFamily="34" charset="-120"/>
              </a:rPr>
              <a:t>[ INSERT: STIG Detail View ]</a:t>
            </a:r>
            <a:endParaRPr lang="en-US" sz="1100" dirty="0"/>
          </a:p>
        </p:txBody>
      </p:sp>
      <p:sp>
        <p:nvSpPr>
          <p:cNvPr id="40" name="Shape 38"/>
          <p:cNvSpPr/>
          <p:nvPr/>
        </p:nvSpPr>
        <p:spPr>
          <a:xfrm>
            <a:off x="6144768" y="4407408"/>
            <a:ext cx="2651760" cy="594360"/>
          </a:xfrm>
          <a:prstGeom prst="rect">
            <a:avLst/>
          </a:prstGeom>
          <a:solidFill>
            <a:srgbClr val="D6E4F7"/>
          </a:solidFill>
          <a:ln w="12700">
            <a:solidFill>
              <a:srgbClr val="A8C4E0"/>
            </a:solidFill>
            <a:prstDash val="dash"/>
          </a:ln>
        </p:spPr>
        <p:txBody>
          <a:bodyPr/>
          <a:lstStyle/>
          <a:p>
            <a:endParaRPr lang="en-US"/>
          </a:p>
        </p:txBody>
      </p:sp>
      <p:sp>
        <p:nvSpPr>
          <p:cNvPr id="41" name="Text 39"/>
          <p:cNvSpPr/>
          <p:nvPr/>
        </p:nvSpPr>
        <p:spPr>
          <a:xfrm>
            <a:off x="6144768" y="4407408"/>
            <a:ext cx="2651760" cy="594360"/>
          </a:xfrm>
          <a:prstGeom prst="rect">
            <a:avLst/>
          </a:prstGeom>
          <a:noFill/>
          <a:ln/>
        </p:spPr>
        <p:txBody>
          <a:bodyPr wrap="square" rtlCol="0" anchor="ctr"/>
          <a:lstStyle/>
          <a:p>
            <a:pPr marL="0" indent="0" algn="ctr">
              <a:buNone/>
            </a:pPr>
            <a:r>
              <a:rPr lang="en-US" sz="1100" i="1" dirty="0">
                <a:solidFill>
                  <a:srgbClr val="5A80A8"/>
                </a:solidFill>
                <a:latin typeface="Calibri" pitchFamily="34" charset="0"/>
                <a:ea typeface="Calibri" pitchFamily="34" charset="-122"/>
                <a:cs typeface="Calibri" pitchFamily="34" charset="-120"/>
              </a:rPr>
              <a:t>[ INSERT: Evidence / Rollback Section ]</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Ownership &amp; Cross-Team Alignment</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Each control category has a clear responsible team</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6" name="Shape 4"/>
          <p:cNvSpPr/>
          <p:nvPr/>
        </p:nvSpPr>
        <p:spPr>
          <a:xfrm>
            <a:off x="347472" y="1298448"/>
            <a:ext cx="8430768" cy="694944"/>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47472" y="1298448"/>
            <a:ext cx="73152" cy="694944"/>
          </a:xfrm>
          <a:prstGeom prst="rect">
            <a:avLst/>
          </a:prstGeom>
          <a:solidFill>
            <a:srgbClr val="0B7A8C"/>
          </a:solidFill>
          <a:ln w="12700">
            <a:solidFill>
              <a:srgbClr val="0B7A8C"/>
            </a:solidFill>
            <a:prstDash val="solid"/>
          </a:ln>
        </p:spPr>
        <p:txBody>
          <a:bodyPr/>
          <a:lstStyle/>
          <a:p>
            <a:endParaRPr lang="en-US"/>
          </a:p>
        </p:txBody>
      </p:sp>
      <p:sp>
        <p:nvSpPr>
          <p:cNvPr id="8" name="Shape 6"/>
          <p:cNvSpPr/>
          <p:nvPr/>
        </p:nvSpPr>
        <p:spPr>
          <a:xfrm>
            <a:off x="512064" y="1453896"/>
            <a:ext cx="1554480" cy="384048"/>
          </a:xfrm>
          <a:prstGeom prst="rect">
            <a:avLst/>
          </a:prstGeom>
          <a:solidFill>
            <a:srgbClr val="0B7A8C"/>
          </a:solidFill>
          <a:ln w="12700">
            <a:solidFill>
              <a:srgbClr val="0B7A8C"/>
            </a:solidFill>
            <a:prstDash val="solid"/>
          </a:ln>
        </p:spPr>
        <p:txBody>
          <a:bodyPr/>
          <a:lstStyle/>
          <a:p>
            <a:endParaRPr lang="en-US"/>
          </a:p>
        </p:txBody>
      </p:sp>
      <p:sp>
        <p:nvSpPr>
          <p:cNvPr id="9" name="Text 7"/>
          <p:cNvSpPr/>
          <p:nvPr/>
        </p:nvSpPr>
        <p:spPr>
          <a:xfrm>
            <a:off x="512064" y="1453896"/>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EUC</a:t>
            </a:r>
            <a:endParaRPr lang="en-US" sz="1200" dirty="0"/>
          </a:p>
        </p:txBody>
      </p:sp>
      <p:sp>
        <p:nvSpPr>
          <p:cNvPr id="10" name="Text 8"/>
          <p:cNvSpPr/>
          <p:nvPr/>
        </p:nvSpPr>
        <p:spPr>
          <a:xfrm>
            <a:off x="2212848" y="1371600"/>
            <a:ext cx="3200400" cy="274320"/>
          </a:xfrm>
          <a:prstGeom prst="rect">
            <a:avLst/>
          </a:prstGeom>
          <a:noFill/>
          <a:ln/>
        </p:spPr>
        <p:txBody>
          <a:bodyPr wrap="square" lIns="0" tIns="0" rIns="0" bIns="0" rtlCol="0" anchor="ctr"/>
          <a:lstStyle/>
          <a:p>
            <a:pPr marL="0" indent="0" algn="l">
              <a:buNone/>
            </a:pPr>
            <a:r>
              <a:rPr lang="en-US" sz="1400" b="1" dirty="0">
                <a:solidFill>
                  <a:srgbClr val="1A2040"/>
                </a:solidFill>
                <a:latin typeface="Calibri" pitchFamily="34" charset="0"/>
                <a:ea typeface="Calibri" pitchFamily="34" charset="-122"/>
                <a:cs typeface="Calibri" pitchFamily="34" charset="-120"/>
              </a:rPr>
              <a:t>Endpoint Configuration</a:t>
            </a:r>
            <a:endParaRPr lang="en-US" sz="1400" dirty="0"/>
          </a:p>
        </p:txBody>
      </p:sp>
      <p:sp>
        <p:nvSpPr>
          <p:cNvPr id="11" name="Text 9"/>
          <p:cNvSpPr/>
          <p:nvPr/>
        </p:nvSpPr>
        <p:spPr>
          <a:xfrm>
            <a:off x="2212848" y="1682496"/>
            <a:ext cx="6400800" cy="256032"/>
          </a:xfrm>
          <a:prstGeom prst="rect">
            <a:avLst/>
          </a:prstGeom>
          <a:noFill/>
          <a:ln/>
        </p:spPr>
        <p:txBody>
          <a:bodyPr wrap="square" lIns="0" tIns="0" rIns="0" bIns="0" rtlCol="0" anchor="t"/>
          <a:lstStyle/>
          <a:p>
            <a:pPr marL="0" indent="0" algn="l">
              <a:buNone/>
            </a:pPr>
            <a:r>
              <a:rPr lang="en-US" sz="1100" dirty="0">
                <a:solidFill>
                  <a:srgbClr val="5F6B7C"/>
                </a:solidFill>
                <a:latin typeface="Calibri" pitchFamily="34" charset="0"/>
                <a:ea typeface="Calibri" pitchFamily="34" charset="-122"/>
                <a:cs typeface="Calibri" pitchFamily="34" charset="-120"/>
              </a:rPr>
              <a:t>Audit settings, local policies, event log sizes, screen lock, PowerShell settings</a:t>
            </a:r>
            <a:endParaRPr lang="en-US" sz="1100" dirty="0"/>
          </a:p>
        </p:txBody>
      </p:sp>
      <p:sp>
        <p:nvSpPr>
          <p:cNvPr id="12" name="Shape 10"/>
          <p:cNvSpPr/>
          <p:nvPr/>
        </p:nvSpPr>
        <p:spPr>
          <a:xfrm>
            <a:off x="347472" y="2121408"/>
            <a:ext cx="8430768" cy="694944"/>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47472" y="2121408"/>
            <a:ext cx="73152" cy="694944"/>
          </a:xfrm>
          <a:prstGeom prst="rect">
            <a:avLst/>
          </a:prstGeom>
          <a:solidFill>
            <a:srgbClr val="2A3F7E"/>
          </a:solidFill>
          <a:ln w="12700">
            <a:solidFill>
              <a:srgbClr val="2A3F7E"/>
            </a:solidFill>
            <a:prstDash val="solid"/>
          </a:ln>
        </p:spPr>
        <p:txBody>
          <a:bodyPr/>
          <a:lstStyle/>
          <a:p>
            <a:endParaRPr lang="en-US"/>
          </a:p>
        </p:txBody>
      </p:sp>
      <p:sp>
        <p:nvSpPr>
          <p:cNvPr id="14" name="Shape 12"/>
          <p:cNvSpPr/>
          <p:nvPr/>
        </p:nvSpPr>
        <p:spPr>
          <a:xfrm>
            <a:off x="512064" y="2276856"/>
            <a:ext cx="1554480" cy="384048"/>
          </a:xfrm>
          <a:prstGeom prst="rect">
            <a:avLst/>
          </a:prstGeom>
          <a:solidFill>
            <a:srgbClr val="2A3F7E"/>
          </a:solidFill>
          <a:ln w="12700">
            <a:solidFill>
              <a:srgbClr val="2A3F7E"/>
            </a:solidFill>
            <a:prstDash val="solid"/>
          </a:ln>
        </p:spPr>
        <p:txBody>
          <a:bodyPr/>
          <a:lstStyle/>
          <a:p>
            <a:endParaRPr lang="en-US"/>
          </a:p>
        </p:txBody>
      </p:sp>
      <p:sp>
        <p:nvSpPr>
          <p:cNvPr id="15" name="Text 13"/>
          <p:cNvSpPr/>
          <p:nvPr/>
        </p:nvSpPr>
        <p:spPr>
          <a:xfrm>
            <a:off x="512064" y="2276856"/>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Infrastructure</a:t>
            </a:r>
            <a:endParaRPr lang="en-US" sz="1200" dirty="0"/>
          </a:p>
        </p:txBody>
      </p:sp>
      <p:sp>
        <p:nvSpPr>
          <p:cNvPr id="16" name="Text 14"/>
          <p:cNvSpPr/>
          <p:nvPr/>
        </p:nvSpPr>
        <p:spPr>
          <a:xfrm>
            <a:off x="2212848" y="2194560"/>
            <a:ext cx="3200400" cy="274320"/>
          </a:xfrm>
          <a:prstGeom prst="rect">
            <a:avLst/>
          </a:prstGeom>
          <a:noFill/>
          <a:ln/>
        </p:spPr>
        <p:txBody>
          <a:bodyPr wrap="square" lIns="0" tIns="0" rIns="0" bIns="0" rtlCol="0" anchor="ctr"/>
          <a:lstStyle/>
          <a:p>
            <a:pPr marL="0" indent="0" algn="l">
              <a:buNone/>
            </a:pPr>
            <a:r>
              <a:rPr lang="en-US" sz="1400" b="1" dirty="0">
                <a:solidFill>
                  <a:srgbClr val="1A2040"/>
                </a:solidFill>
                <a:latin typeface="Calibri" pitchFamily="34" charset="0"/>
                <a:ea typeface="Calibri" pitchFamily="34" charset="-122"/>
                <a:cs typeface="Calibri" pitchFamily="34" charset="-120"/>
              </a:rPr>
              <a:t>Authentication Policies</a:t>
            </a:r>
            <a:endParaRPr lang="en-US" sz="1400" dirty="0"/>
          </a:p>
        </p:txBody>
      </p:sp>
      <p:sp>
        <p:nvSpPr>
          <p:cNvPr id="17" name="Text 15"/>
          <p:cNvSpPr/>
          <p:nvPr/>
        </p:nvSpPr>
        <p:spPr>
          <a:xfrm>
            <a:off x="2212848" y="2505456"/>
            <a:ext cx="6400800" cy="256032"/>
          </a:xfrm>
          <a:prstGeom prst="rect">
            <a:avLst/>
          </a:prstGeom>
          <a:noFill/>
          <a:ln/>
        </p:spPr>
        <p:txBody>
          <a:bodyPr wrap="square" lIns="0" tIns="0" rIns="0" bIns="0" rtlCol="0" anchor="t"/>
          <a:lstStyle/>
          <a:p>
            <a:pPr marL="0" indent="0" algn="l">
              <a:buNone/>
            </a:pPr>
            <a:r>
              <a:rPr lang="en-US" sz="1100" dirty="0">
                <a:solidFill>
                  <a:srgbClr val="5F6B7C"/>
                </a:solidFill>
                <a:latin typeface="Calibri" pitchFamily="34" charset="0"/>
                <a:ea typeface="Calibri" pitchFamily="34" charset="-122"/>
                <a:cs typeface="Calibri" pitchFamily="34" charset="-120"/>
              </a:rPr>
              <a:t>Password policies, logon settings, Credential Guard, cached credentials</a:t>
            </a:r>
            <a:endParaRPr lang="en-US" sz="1100" dirty="0"/>
          </a:p>
        </p:txBody>
      </p:sp>
      <p:sp>
        <p:nvSpPr>
          <p:cNvPr id="18" name="Shape 16"/>
          <p:cNvSpPr/>
          <p:nvPr/>
        </p:nvSpPr>
        <p:spPr>
          <a:xfrm>
            <a:off x="347472" y="2944368"/>
            <a:ext cx="8430768" cy="694944"/>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347472" y="2944368"/>
            <a:ext cx="73152" cy="694944"/>
          </a:xfrm>
          <a:prstGeom prst="rect">
            <a:avLst/>
          </a:prstGeom>
          <a:solidFill>
            <a:srgbClr val="B86E00"/>
          </a:solidFill>
          <a:ln w="12700">
            <a:solidFill>
              <a:srgbClr val="B86E00"/>
            </a:solidFill>
            <a:prstDash val="solid"/>
          </a:ln>
        </p:spPr>
        <p:txBody>
          <a:bodyPr/>
          <a:lstStyle/>
          <a:p>
            <a:endParaRPr lang="en-US"/>
          </a:p>
        </p:txBody>
      </p:sp>
      <p:sp>
        <p:nvSpPr>
          <p:cNvPr id="20" name="Shape 18"/>
          <p:cNvSpPr/>
          <p:nvPr/>
        </p:nvSpPr>
        <p:spPr>
          <a:xfrm>
            <a:off x="512064" y="3099816"/>
            <a:ext cx="1554480" cy="384048"/>
          </a:xfrm>
          <a:prstGeom prst="rect">
            <a:avLst/>
          </a:prstGeom>
          <a:solidFill>
            <a:srgbClr val="B86E00"/>
          </a:solidFill>
          <a:ln w="12700">
            <a:solidFill>
              <a:srgbClr val="B86E00"/>
            </a:solidFill>
            <a:prstDash val="solid"/>
          </a:ln>
        </p:spPr>
        <p:txBody>
          <a:bodyPr/>
          <a:lstStyle/>
          <a:p>
            <a:endParaRPr lang="en-US"/>
          </a:p>
        </p:txBody>
      </p:sp>
      <p:sp>
        <p:nvSpPr>
          <p:cNvPr id="21" name="Text 19"/>
          <p:cNvSpPr/>
          <p:nvPr/>
        </p:nvSpPr>
        <p:spPr>
          <a:xfrm>
            <a:off x="512064" y="3099816"/>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Network</a:t>
            </a:r>
            <a:endParaRPr lang="en-US" sz="1200" dirty="0"/>
          </a:p>
        </p:txBody>
      </p:sp>
      <p:sp>
        <p:nvSpPr>
          <p:cNvPr id="22" name="Text 20"/>
          <p:cNvSpPr/>
          <p:nvPr/>
        </p:nvSpPr>
        <p:spPr>
          <a:xfrm>
            <a:off x="2212848" y="3017520"/>
            <a:ext cx="3200400" cy="274320"/>
          </a:xfrm>
          <a:prstGeom prst="rect">
            <a:avLst/>
          </a:prstGeom>
          <a:noFill/>
          <a:ln/>
        </p:spPr>
        <p:txBody>
          <a:bodyPr wrap="square" lIns="0" tIns="0" rIns="0" bIns="0" rtlCol="0" anchor="ctr"/>
          <a:lstStyle/>
          <a:p>
            <a:pPr marL="0" indent="0" algn="l">
              <a:buNone/>
            </a:pPr>
            <a:r>
              <a:rPr lang="en-US" sz="1400" b="1" dirty="0">
                <a:solidFill>
                  <a:srgbClr val="1A2040"/>
                </a:solidFill>
                <a:latin typeface="Calibri" pitchFamily="34" charset="0"/>
                <a:ea typeface="Calibri" pitchFamily="34" charset="-122"/>
                <a:cs typeface="Calibri" pitchFamily="34" charset="-120"/>
              </a:rPr>
              <a:t>Network-Related Controls</a:t>
            </a:r>
            <a:endParaRPr lang="en-US" sz="1400" dirty="0"/>
          </a:p>
        </p:txBody>
      </p:sp>
      <p:sp>
        <p:nvSpPr>
          <p:cNvPr id="23" name="Text 21"/>
          <p:cNvSpPr/>
          <p:nvPr/>
        </p:nvSpPr>
        <p:spPr>
          <a:xfrm>
            <a:off x="2212848" y="3328416"/>
            <a:ext cx="6400800" cy="256032"/>
          </a:xfrm>
          <a:prstGeom prst="rect">
            <a:avLst/>
          </a:prstGeom>
          <a:noFill/>
          <a:ln/>
        </p:spPr>
        <p:txBody>
          <a:bodyPr wrap="square" lIns="0" tIns="0" rIns="0" bIns="0" rtlCol="0" anchor="t"/>
          <a:lstStyle/>
          <a:p>
            <a:pPr marL="0" indent="0" algn="l">
              <a:buNone/>
            </a:pPr>
            <a:r>
              <a:rPr lang="en-US" sz="1100" dirty="0">
                <a:solidFill>
                  <a:srgbClr val="5F6B7C"/>
                </a:solidFill>
                <a:latin typeface="Calibri" pitchFamily="34" charset="0"/>
                <a:ea typeface="Calibri" pitchFamily="34" charset="-122"/>
                <a:cs typeface="Calibri" pitchFamily="34" charset="-120"/>
              </a:rPr>
              <a:t>SMB protocol versions, IPv6 settings, unused network protocol controls</a:t>
            </a:r>
            <a:endParaRPr lang="en-US" sz="1100" dirty="0"/>
          </a:p>
        </p:txBody>
      </p:sp>
      <p:sp>
        <p:nvSpPr>
          <p:cNvPr id="24" name="Shape 22"/>
          <p:cNvSpPr/>
          <p:nvPr/>
        </p:nvSpPr>
        <p:spPr>
          <a:xfrm>
            <a:off x="347472" y="3767328"/>
            <a:ext cx="8430768" cy="694944"/>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347472" y="3767328"/>
            <a:ext cx="73152" cy="694944"/>
          </a:xfrm>
          <a:prstGeom prst="rect">
            <a:avLst/>
          </a:prstGeom>
          <a:solidFill>
            <a:srgbClr val="9B2335"/>
          </a:solidFill>
          <a:ln w="12700">
            <a:solidFill>
              <a:srgbClr val="9B2335"/>
            </a:solidFill>
            <a:prstDash val="solid"/>
          </a:ln>
        </p:spPr>
        <p:txBody>
          <a:bodyPr/>
          <a:lstStyle/>
          <a:p>
            <a:endParaRPr lang="en-US"/>
          </a:p>
        </p:txBody>
      </p:sp>
      <p:sp>
        <p:nvSpPr>
          <p:cNvPr id="26" name="Shape 24"/>
          <p:cNvSpPr/>
          <p:nvPr/>
        </p:nvSpPr>
        <p:spPr>
          <a:xfrm>
            <a:off x="512064" y="3922776"/>
            <a:ext cx="1554480" cy="384048"/>
          </a:xfrm>
          <a:prstGeom prst="rect">
            <a:avLst/>
          </a:prstGeom>
          <a:solidFill>
            <a:srgbClr val="9B2335"/>
          </a:solidFill>
          <a:ln w="12700">
            <a:solidFill>
              <a:srgbClr val="9B2335"/>
            </a:solidFill>
            <a:prstDash val="solid"/>
          </a:ln>
        </p:spPr>
        <p:txBody>
          <a:bodyPr/>
          <a:lstStyle/>
          <a:p>
            <a:endParaRPr lang="en-US"/>
          </a:p>
        </p:txBody>
      </p:sp>
      <p:sp>
        <p:nvSpPr>
          <p:cNvPr id="27" name="Text 25"/>
          <p:cNvSpPr/>
          <p:nvPr/>
        </p:nvSpPr>
        <p:spPr>
          <a:xfrm>
            <a:off x="512064" y="3922776"/>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Security</a:t>
            </a:r>
            <a:endParaRPr lang="en-US" sz="1200" dirty="0"/>
          </a:p>
        </p:txBody>
      </p:sp>
      <p:sp>
        <p:nvSpPr>
          <p:cNvPr id="28" name="Text 26"/>
          <p:cNvSpPr/>
          <p:nvPr/>
        </p:nvSpPr>
        <p:spPr>
          <a:xfrm>
            <a:off x="2212848" y="3840480"/>
            <a:ext cx="3200400" cy="274320"/>
          </a:xfrm>
          <a:prstGeom prst="rect">
            <a:avLst/>
          </a:prstGeom>
          <a:noFill/>
          <a:ln/>
        </p:spPr>
        <p:txBody>
          <a:bodyPr wrap="square" lIns="0" tIns="0" rIns="0" bIns="0" rtlCol="0" anchor="ctr"/>
          <a:lstStyle/>
          <a:p>
            <a:pPr marL="0" indent="0" algn="l">
              <a:buNone/>
            </a:pPr>
            <a:r>
              <a:rPr lang="en-US" sz="1400" b="1" dirty="0">
                <a:solidFill>
                  <a:srgbClr val="1A2040"/>
                </a:solidFill>
                <a:latin typeface="Calibri" pitchFamily="34" charset="0"/>
                <a:ea typeface="Calibri" pitchFamily="34" charset="-122"/>
                <a:cs typeface="Calibri" pitchFamily="34" charset="-120"/>
              </a:rPr>
              <a:t>Audit Requirements</a:t>
            </a:r>
            <a:endParaRPr lang="en-US" sz="1400" dirty="0"/>
          </a:p>
        </p:txBody>
      </p:sp>
      <p:sp>
        <p:nvSpPr>
          <p:cNvPr id="29" name="Text 27"/>
          <p:cNvSpPr/>
          <p:nvPr/>
        </p:nvSpPr>
        <p:spPr>
          <a:xfrm>
            <a:off x="2212848" y="4151376"/>
            <a:ext cx="6400800" cy="256032"/>
          </a:xfrm>
          <a:prstGeom prst="rect">
            <a:avLst/>
          </a:prstGeom>
          <a:noFill/>
          <a:ln/>
        </p:spPr>
        <p:txBody>
          <a:bodyPr wrap="square" lIns="0" tIns="0" rIns="0" bIns="0" rtlCol="0" anchor="t"/>
          <a:lstStyle/>
          <a:p>
            <a:pPr marL="0" indent="0" algn="l">
              <a:buNone/>
            </a:pPr>
            <a:r>
              <a:rPr lang="en-US" sz="1100" dirty="0">
                <a:solidFill>
                  <a:srgbClr val="5F6B7C"/>
                </a:solidFill>
                <a:latin typeface="Calibri" pitchFamily="34" charset="0"/>
                <a:ea typeface="Calibri" pitchFamily="34" charset="-122"/>
                <a:cs typeface="Calibri" pitchFamily="34" charset="-120"/>
              </a:rPr>
              <a:t>Audit policy alignment, compliance reporting, log review and retention</a:t>
            </a:r>
            <a:endParaRPr lang="en-US" sz="1100" dirty="0"/>
          </a:p>
        </p:txBody>
      </p:sp>
      <p:sp>
        <p:nvSpPr>
          <p:cNvPr id="30" name="Shape 28"/>
          <p:cNvSpPr/>
          <p:nvPr/>
        </p:nvSpPr>
        <p:spPr>
          <a:xfrm>
            <a:off x="347472" y="4663440"/>
            <a:ext cx="8430768" cy="347472"/>
          </a:xfrm>
          <a:prstGeom prst="rect">
            <a:avLst/>
          </a:prstGeom>
          <a:solidFill>
            <a:srgbClr val="1A2B5E"/>
          </a:solidFill>
          <a:ln w="12700">
            <a:solidFill>
              <a:srgbClr val="1A2B5E"/>
            </a:solidFill>
            <a:prstDash val="solid"/>
          </a:ln>
        </p:spPr>
        <p:txBody>
          <a:bodyPr/>
          <a:lstStyle/>
          <a:p>
            <a:endParaRPr lang="en-US"/>
          </a:p>
        </p:txBody>
      </p:sp>
      <p:sp>
        <p:nvSpPr>
          <p:cNvPr id="31" name="Text 29"/>
          <p:cNvSpPr/>
          <p:nvPr/>
        </p:nvSpPr>
        <p:spPr>
          <a:xfrm>
            <a:off x="502920" y="4663440"/>
            <a:ext cx="82296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Hardening requires shared ownership.  No single team can complete this safely without the others.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Controlled Rollout Plan</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A staged, validated path from pilot to production</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6" name="Shape 4"/>
          <p:cNvSpPr/>
          <p:nvPr/>
        </p:nvSpPr>
        <p:spPr>
          <a:xfrm>
            <a:off x="347472" y="1298448"/>
            <a:ext cx="2724912" cy="155448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47472" y="1298448"/>
            <a:ext cx="2724912" cy="73152"/>
          </a:xfrm>
          <a:prstGeom prst="rect">
            <a:avLst/>
          </a:prstGeom>
          <a:solidFill>
            <a:srgbClr val="0B7A8C"/>
          </a:solidFill>
          <a:ln w="12700">
            <a:solidFill>
              <a:srgbClr val="0B7A8C"/>
            </a:solidFill>
            <a:prstDash val="solid"/>
          </a:ln>
        </p:spPr>
        <p:txBody>
          <a:bodyPr/>
          <a:lstStyle/>
          <a:p>
            <a:endParaRPr lang="en-US"/>
          </a:p>
        </p:txBody>
      </p:sp>
      <p:sp>
        <p:nvSpPr>
          <p:cNvPr id="8" name="Text 6"/>
          <p:cNvSpPr/>
          <p:nvPr/>
        </p:nvSpPr>
        <p:spPr>
          <a:xfrm>
            <a:off x="457200" y="1426464"/>
            <a:ext cx="548640" cy="457200"/>
          </a:xfrm>
          <a:prstGeom prst="rect">
            <a:avLst/>
          </a:prstGeom>
          <a:noFill/>
          <a:ln/>
        </p:spPr>
        <p:txBody>
          <a:bodyPr wrap="square" lIns="0" tIns="0" rIns="0" bIns="0" rtlCol="0" anchor="ctr"/>
          <a:lstStyle/>
          <a:p>
            <a:pPr marL="0" indent="0" algn="l">
              <a:buNone/>
            </a:pPr>
            <a:r>
              <a:rPr lang="en-US" sz="2800" b="1" dirty="0">
                <a:solidFill>
                  <a:srgbClr val="0B7A8C"/>
                </a:solidFill>
                <a:latin typeface="Calibri" pitchFamily="34" charset="0"/>
                <a:ea typeface="Calibri" pitchFamily="34" charset="-122"/>
                <a:cs typeface="Calibri" pitchFamily="34" charset="-120"/>
              </a:rPr>
              <a:t>01</a:t>
            </a:r>
            <a:endParaRPr lang="en-US" sz="2800" dirty="0"/>
          </a:p>
        </p:txBody>
      </p:sp>
      <p:sp>
        <p:nvSpPr>
          <p:cNvPr id="9" name="Text 7"/>
          <p:cNvSpPr/>
          <p:nvPr/>
        </p:nvSpPr>
        <p:spPr>
          <a:xfrm>
            <a:off x="1033272" y="1435608"/>
            <a:ext cx="1938528" cy="41148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Final Tier 1 Approval</a:t>
            </a:r>
            <a:endParaRPr lang="en-US" sz="1200" dirty="0"/>
          </a:p>
        </p:txBody>
      </p:sp>
      <p:sp>
        <p:nvSpPr>
          <p:cNvPr id="10" name="Text 8"/>
          <p:cNvSpPr/>
          <p:nvPr/>
        </p:nvSpPr>
        <p:spPr>
          <a:xfrm>
            <a:off x="484632" y="1975104"/>
            <a:ext cx="2487168" cy="786384"/>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Leadership and owner sign-off on Tier 1 controls before any deployment begins</a:t>
            </a:r>
            <a:endParaRPr lang="en-US" sz="1100" dirty="0"/>
          </a:p>
        </p:txBody>
      </p:sp>
      <p:sp>
        <p:nvSpPr>
          <p:cNvPr id="11" name="Shape 9"/>
          <p:cNvSpPr/>
          <p:nvPr/>
        </p:nvSpPr>
        <p:spPr>
          <a:xfrm>
            <a:off x="3291840" y="1298448"/>
            <a:ext cx="2724912" cy="155448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291840" y="1298448"/>
            <a:ext cx="2724912" cy="73152"/>
          </a:xfrm>
          <a:prstGeom prst="rect">
            <a:avLst/>
          </a:prstGeom>
          <a:solidFill>
            <a:srgbClr val="2A3F7E"/>
          </a:solidFill>
          <a:ln w="12700">
            <a:solidFill>
              <a:srgbClr val="2A3F7E"/>
            </a:solidFill>
            <a:prstDash val="solid"/>
          </a:ln>
        </p:spPr>
        <p:txBody>
          <a:bodyPr/>
          <a:lstStyle/>
          <a:p>
            <a:endParaRPr lang="en-US"/>
          </a:p>
        </p:txBody>
      </p:sp>
      <p:sp>
        <p:nvSpPr>
          <p:cNvPr id="13" name="Text 11"/>
          <p:cNvSpPr/>
          <p:nvPr/>
        </p:nvSpPr>
        <p:spPr>
          <a:xfrm>
            <a:off x="3401568" y="1426464"/>
            <a:ext cx="548640" cy="457200"/>
          </a:xfrm>
          <a:prstGeom prst="rect">
            <a:avLst/>
          </a:prstGeom>
          <a:noFill/>
          <a:ln/>
        </p:spPr>
        <p:txBody>
          <a:bodyPr wrap="square" lIns="0" tIns="0" rIns="0" bIns="0" rtlCol="0" anchor="ctr"/>
          <a:lstStyle/>
          <a:p>
            <a:pPr marL="0" indent="0" algn="l">
              <a:buNone/>
            </a:pPr>
            <a:r>
              <a:rPr lang="en-US" sz="2800" b="1" dirty="0">
                <a:solidFill>
                  <a:srgbClr val="2A3F7E"/>
                </a:solidFill>
                <a:latin typeface="Calibri" pitchFamily="34" charset="0"/>
                <a:ea typeface="Calibri" pitchFamily="34" charset="-122"/>
                <a:cs typeface="Calibri" pitchFamily="34" charset="-120"/>
              </a:rPr>
              <a:t>02</a:t>
            </a:r>
            <a:endParaRPr lang="en-US" sz="2800" dirty="0"/>
          </a:p>
        </p:txBody>
      </p:sp>
      <p:sp>
        <p:nvSpPr>
          <p:cNvPr id="14" name="Text 12"/>
          <p:cNvSpPr/>
          <p:nvPr/>
        </p:nvSpPr>
        <p:spPr>
          <a:xfrm>
            <a:off x="3977640" y="1435608"/>
            <a:ext cx="1938528" cy="41148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Pilot Deployment</a:t>
            </a:r>
            <a:endParaRPr lang="en-US" sz="1200" dirty="0"/>
          </a:p>
        </p:txBody>
      </p:sp>
      <p:sp>
        <p:nvSpPr>
          <p:cNvPr id="15" name="Text 13"/>
          <p:cNvSpPr/>
          <p:nvPr/>
        </p:nvSpPr>
        <p:spPr>
          <a:xfrm>
            <a:off x="3429000" y="1975104"/>
            <a:ext cx="2487168" cy="786384"/>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Apply controls to a small representative group of 5–10 devices across user roles</a:t>
            </a:r>
            <a:endParaRPr lang="en-US" sz="1100" dirty="0"/>
          </a:p>
        </p:txBody>
      </p:sp>
      <p:sp>
        <p:nvSpPr>
          <p:cNvPr id="16" name="Shape 14"/>
          <p:cNvSpPr/>
          <p:nvPr/>
        </p:nvSpPr>
        <p:spPr>
          <a:xfrm>
            <a:off x="6236208" y="1298448"/>
            <a:ext cx="2724912" cy="155448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6236208" y="1298448"/>
            <a:ext cx="2724912" cy="73152"/>
          </a:xfrm>
          <a:prstGeom prst="rect">
            <a:avLst/>
          </a:prstGeom>
          <a:solidFill>
            <a:srgbClr val="0B7A8C"/>
          </a:solidFill>
          <a:ln w="12700">
            <a:solidFill>
              <a:srgbClr val="0B7A8C"/>
            </a:solidFill>
            <a:prstDash val="solid"/>
          </a:ln>
        </p:spPr>
        <p:txBody>
          <a:bodyPr/>
          <a:lstStyle/>
          <a:p>
            <a:endParaRPr lang="en-US"/>
          </a:p>
        </p:txBody>
      </p:sp>
      <p:sp>
        <p:nvSpPr>
          <p:cNvPr id="18" name="Text 16"/>
          <p:cNvSpPr/>
          <p:nvPr/>
        </p:nvSpPr>
        <p:spPr>
          <a:xfrm>
            <a:off x="6345936" y="1426464"/>
            <a:ext cx="548640" cy="457200"/>
          </a:xfrm>
          <a:prstGeom prst="rect">
            <a:avLst/>
          </a:prstGeom>
          <a:noFill/>
          <a:ln/>
        </p:spPr>
        <p:txBody>
          <a:bodyPr wrap="square" lIns="0" tIns="0" rIns="0" bIns="0" rtlCol="0" anchor="ctr"/>
          <a:lstStyle/>
          <a:p>
            <a:pPr marL="0" indent="0" algn="l">
              <a:buNone/>
            </a:pPr>
            <a:r>
              <a:rPr lang="en-US" sz="2800" b="1" dirty="0">
                <a:solidFill>
                  <a:srgbClr val="0B7A8C"/>
                </a:solidFill>
                <a:latin typeface="Calibri" pitchFamily="34" charset="0"/>
                <a:ea typeface="Calibri" pitchFamily="34" charset="-122"/>
                <a:cs typeface="Calibri" pitchFamily="34" charset="-120"/>
              </a:rPr>
              <a:t>03</a:t>
            </a:r>
            <a:endParaRPr lang="en-US" sz="2800" dirty="0"/>
          </a:p>
        </p:txBody>
      </p:sp>
      <p:sp>
        <p:nvSpPr>
          <p:cNvPr id="19" name="Text 17"/>
          <p:cNvSpPr/>
          <p:nvPr/>
        </p:nvSpPr>
        <p:spPr>
          <a:xfrm>
            <a:off x="6922008" y="1435608"/>
            <a:ext cx="1938528" cy="41148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QA Validation</a:t>
            </a:r>
            <a:endParaRPr lang="en-US" sz="1200" dirty="0"/>
          </a:p>
        </p:txBody>
      </p:sp>
      <p:sp>
        <p:nvSpPr>
          <p:cNvPr id="20" name="Text 18"/>
          <p:cNvSpPr/>
          <p:nvPr/>
        </p:nvSpPr>
        <p:spPr>
          <a:xfrm>
            <a:off x="6373368" y="1975104"/>
            <a:ext cx="2487168" cy="786384"/>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Remote access, IT support tools, user workflows, and audit logs all verified stable</a:t>
            </a:r>
            <a:endParaRPr lang="en-US" sz="1100" dirty="0"/>
          </a:p>
        </p:txBody>
      </p:sp>
      <p:sp>
        <p:nvSpPr>
          <p:cNvPr id="21" name="Shape 19"/>
          <p:cNvSpPr/>
          <p:nvPr/>
        </p:nvSpPr>
        <p:spPr>
          <a:xfrm>
            <a:off x="347472" y="3017520"/>
            <a:ext cx="2724912" cy="155448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347472" y="3017520"/>
            <a:ext cx="2724912" cy="73152"/>
          </a:xfrm>
          <a:prstGeom prst="rect">
            <a:avLst/>
          </a:prstGeom>
          <a:solidFill>
            <a:srgbClr val="2A3F7E"/>
          </a:solidFill>
          <a:ln w="12700">
            <a:solidFill>
              <a:srgbClr val="2A3F7E"/>
            </a:solidFill>
            <a:prstDash val="solid"/>
          </a:ln>
        </p:spPr>
        <p:txBody>
          <a:bodyPr/>
          <a:lstStyle/>
          <a:p>
            <a:endParaRPr lang="en-US"/>
          </a:p>
        </p:txBody>
      </p:sp>
      <p:sp>
        <p:nvSpPr>
          <p:cNvPr id="23" name="Text 21"/>
          <p:cNvSpPr/>
          <p:nvPr/>
        </p:nvSpPr>
        <p:spPr>
          <a:xfrm>
            <a:off x="457200" y="3145536"/>
            <a:ext cx="548640" cy="457200"/>
          </a:xfrm>
          <a:prstGeom prst="rect">
            <a:avLst/>
          </a:prstGeom>
          <a:noFill/>
          <a:ln/>
        </p:spPr>
        <p:txBody>
          <a:bodyPr wrap="square" lIns="0" tIns="0" rIns="0" bIns="0" rtlCol="0" anchor="ctr"/>
          <a:lstStyle/>
          <a:p>
            <a:pPr marL="0" indent="0" algn="l">
              <a:buNone/>
            </a:pPr>
            <a:r>
              <a:rPr lang="en-US" sz="2800" b="1" dirty="0">
                <a:solidFill>
                  <a:srgbClr val="2A3F7E"/>
                </a:solidFill>
                <a:latin typeface="Calibri" pitchFamily="34" charset="0"/>
                <a:ea typeface="Calibri" pitchFamily="34" charset="-122"/>
                <a:cs typeface="Calibri" pitchFamily="34" charset="-120"/>
              </a:rPr>
              <a:t>04</a:t>
            </a:r>
            <a:endParaRPr lang="en-US" sz="2800" dirty="0"/>
          </a:p>
        </p:txBody>
      </p:sp>
      <p:sp>
        <p:nvSpPr>
          <p:cNvPr id="24" name="Text 22"/>
          <p:cNvSpPr/>
          <p:nvPr/>
        </p:nvSpPr>
        <p:spPr>
          <a:xfrm>
            <a:off x="1033272" y="3154680"/>
            <a:ext cx="1938528" cy="41148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Ring-Based Rollout</a:t>
            </a:r>
            <a:endParaRPr lang="en-US" sz="1200" dirty="0"/>
          </a:p>
        </p:txBody>
      </p:sp>
      <p:sp>
        <p:nvSpPr>
          <p:cNvPr id="25" name="Text 23"/>
          <p:cNvSpPr/>
          <p:nvPr/>
        </p:nvSpPr>
        <p:spPr>
          <a:xfrm>
            <a:off x="484632" y="3694176"/>
            <a:ext cx="2487168" cy="786384"/>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Gradual expansion: IT staff first, then broader user groups, then full environment</a:t>
            </a:r>
            <a:endParaRPr lang="en-US" sz="1100" dirty="0"/>
          </a:p>
        </p:txBody>
      </p:sp>
      <p:sp>
        <p:nvSpPr>
          <p:cNvPr id="26" name="Shape 24"/>
          <p:cNvSpPr/>
          <p:nvPr/>
        </p:nvSpPr>
        <p:spPr>
          <a:xfrm>
            <a:off x="3291840" y="3017520"/>
            <a:ext cx="2724912" cy="155448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3291840" y="3017520"/>
            <a:ext cx="2724912" cy="73152"/>
          </a:xfrm>
          <a:prstGeom prst="rect">
            <a:avLst/>
          </a:prstGeom>
          <a:solidFill>
            <a:srgbClr val="0B7A8C"/>
          </a:solidFill>
          <a:ln w="12700">
            <a:solidFill>
              <a:srgbClr val="0B7A8C"/>
            </a:solidFill>
            <a:prstDash val="solid"/>
          </a:ln>
        </p:spPr>
        <p:txBody>
          <a:bodyPr/>
          <a:lstStyle/>
          <a:p>
            <a:endParaRPr lang="en-US"/>
          </a:p>
        </p:txBody>
      </p:sp>
      <p:sp>
        <p:nvSpPr>
          <p:cNvPr id="28" name="Text 26"/>
          <p:cNvSpPr/>
          <p:nvPr/>
        </p:nvSpPr>
        <p:spPr>
          <a:xfrm>
            <a:off x="3401568" y="3145536"/>
            <a:ext cx="548640" cy="457200"/>
          </a:xfrm>
          <a:prstGeom prst="rect">
            <a:avLst/>
          </a:prstGeom>
          <a:noFill/>
          <a:ln/>
        </p:spPr>
        <p:txBody>
          <a:bodyPr wrap="square" lIns="0" tIns="0" rIns="0" bIns="0" rtlCol="0" anchor="ctr"/>
          <a:lstStyle/>
          <a:p>
            <a:pPr marL="0" indent="0" algn="l">
              <a:buNone/>
            </a:pPr>
            <a:r>
              <a:rPr lang="en-US" sz="2800" b="1" dirty="0">
                <a:solidFill>
                  <a:srgbClr val="0B7A8C"/>
                </a:solidFill>
                <a:latin typeface="Calibri" pitchFamily="34" charset="0"/>
                <a:ea typeface="Calibri" pitchFamily="34" charset="-122"/>
                <a:cs typeface="Calibri" pitchFamily="34" charset="-120"/>
              </a:rPr>
              <a:t>05</a:t>
            </a:r>
            <a:endParaRPr lang="en-US" sz="2800" dirty="0"/>
          </a:p>
        </p:txBody>
      </p:sp>
      <p:sp>
        <p:nvSpPr>
          <p:cNvPr id="29" name="Text 27"/>
          <p:cNvSpPr/>
          <p:nvPr/>
        </p:nvSpPr>
        <p:spPr>
          <a:xfrm>
            <a:off x="3977640" y="3154680"/>
            <a:ext cx="1938528" cy="41148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Intune / GPO Deployment</a:t>
            </a:r>
            <a:endParaRPr lang="en-US" sz="1200" dirty="0"/>
          </a:p>
        </p:txBody>
      </p:sp>
      <p:sp>
        <p:nvSpPr>
          <p:cNvPr id="30" name="Text 28"/>
          <p:cNvSpPr/>
          <p:nvPr/>
        </p:nvSpPr>
        <p:spPr>
          <a:xfrm>
            <a:off x="3429000" y="3694176"/>
            <a:ext cx="2487168" cy="786384"/>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Configurations deployed via Group Policy or Intune depending on device management model</a:t>
            </a:r>
            <a:endParaRPr lang="en-US" sz="1100" dirty="0"/>
          </a:p>
        </p:txBody>
      </p:sp>
      <p:sp>
        <p:nvSpPr>
          <p:cNvPr id="31" name="Shape 29"/>
          <p:cNvSpPr/>
          <p:nvPr/>
        </p:nvSpPr>
        <p:spPr>
          <a:xfrm>
            <a:off x="6236208" y="3017520"/>
            <a:ext cx="2724912" cy="1554480"/>
          </a:xfrm>
          <a:prstGeom prst="rect">
            <a:avLst/>
          </a:prstGeom>
          <a:solidFill>
            <a:srgbClr val="FFFFFF"/>
          </a:solidFill>
          <a:ln w="12700">
            <a:solidFill>
              <a:srgbClr val="E0E8F4"/>
            </a:solidFill>
            <a:prstDash val="solid"/>
          </a:ln>
          <a:effectLst>
            <a:outerShdw blurRad="101600" dist="38100" dir="8100000" algn="bl" rotWithShape="0">
              <a:srgbClr val="000000">
                <a:alpha val="12000"/>
              </a:srgbClr>
            </a:outerShdw>
          </a:effectLst>
        </p:spPr>
        <p:txBody>
          <a:bodyPr/>
          <a:lstStyle/>
          <a:p>
            <a:endParaRPr lang="en-US"/>
          </a:p>
        </p:txBody>
      </p:sp>
      <p:sp>
        <p:nvSpPr>
          <p:cNvPr id="32" name="Shape 30"/>
          <p:cNvSpPr/>
          <p:nvPr/>
        </p:nvSpPr>
        <p:spPr>
          <a:xfrm>
            <a:off x="6236208" y="3017520"/>
            <a:ext cx="2724912" cy="73152"/>
          </a:xfrm>
          <a:prstGeom prst="rect">
            <a:avLst/>
          </a:prstGeom>
          <a:solidFill>
            <a:srgbClr val="B86E00"/>
          </a:solidFill>
          <a:ln w="12700">
            <a:solidFill>
              <a:srgbClr val="B86E00"/>
            </a:solidFill>
            <a:prstDash val="solid"/>
          </a:ln>
        </p:spPr>
        <p:txBody>
          <a:bodyPr/>
          <a:lstStyle/>
          <a:p>
            <a:endParaRPr lang="en-US"/>
          </a:p>
        </p:txBody>
      </p:sp>
      <p:sp>
        <p:nvSpPr>
          <p:cNvPr id="33" name="Text 31"/>
          <p:cNvSpPr/>
          <p:nvPr/>
        </p:nvSpPr>
        <p:spPr>
          <a:xfrm>
            <a:off x="6345936" y="3145536"/>
            <a:ext cx="548640" cy="457200"/>
          </a:xfrm>
          <a:prstGeom prst="rect">
            <a:avLst/>
          </a:prstGeom>
          <a:noFill/>
          <a:ln/>
        </p:spPr>
        <p:txBody>
          <a:bodyPr wrap="square" lIns="0" tIns="0" rIns="0" bIns="0" rtlCol="0" anchor="ctr"/>
          <a:lstStyle/>
          <a:p>
            <a:pPr marL="0" indent="0" algn="l">
              <a:buNone/>
            </a:pPr>
            <a:r>
              <a:rPr lang="en-US" sz="2800" b="1" dirty="0">
                <a:solidFill>
                  <a:srgbClr val="B86E00"/>
                </a:solidFill>
                <a:latin typeface="Calibri" pitchFamily="34" charset="0"/>
                <a:ea typeface="Calibri" pitchFamily="34" charset="-122"/>
                <a:cs typeface="Calibri" pitchFamily="34" charset="-120"/>
              </a:rPr>
              <a:t>06</a:t>
            </a:r>
            <a:endParaRPr lang="en-US" sz="2800" dirty="0"/>
          </a:p>
        </p:txBody>
      </p:sp>
      <p:sp>
        <p:nvSpPr>
          <p:cNvPr id="34" name="Text 32"/>
          <p:cNvSpPr/>
          <p:nvPr/>
        </p:nvSpPr>
        <p:spPr>
          <a:xfrm>
            <a:off x="6922008" y="3154680"/>
            <a:ext cx="1938528" cy="411480"/>
          </a:xfrm>
          <a:prstGeom prst="rect">
            <a:avLst/>
          </a:prstGeom>
          <a:noFill/>
          <a:ln/>
        </p:spPr>
        <p:txBody>
          <a:bodyPr wrap="square" lIns="0" tIns="0" rIns="0" bIns="0" rtlCol="0" anchor="ctr"/>
          <a:lstStyle/>
          <a:p>
            <a:pPr marL="0" indent="0" algn="l">
              <a:buNone/>
            </a:pPr>
            <a:r>
              <a:rPr lang="en-US" sz="1200" b="1" dirty="0">
                <a:solidFill>
                  <a:srgbClr val="1A2040"/>
                </a:solidFill>
                <a:latin typeface="Calibri" pitchFamily="34" charset="0"/>
                <a:ea typeface="Calibri" pitchFamily="34" charset="-122"/>
                <a:cs typeface="Calibri" pitchFamily="34" charset="-120"/>
              </a:rPr>
              <a:t>Monitoring &amp; Rollback</a:t>
            </a:r>
            <a:endParaRPr lang="en-US" sz="1200" dirty="0"/>
          </a:p>
        </p:txBody>
      </p:sp>
      <p:sp>
        <p:nvSpPr>
          <p:cNvPr id="35" name="Text 33"/>
          <p:cNvSpPr/>
          <p:nvPr/>
        </p:nvSpPr>
        <p:spPr>
          <a:xfrm>
            <a:off x="6373368" y="3694176"/>
            <a:ext cx="2487168" cy="786384"/>
          </a:xfrm>
          <a:prstGeom prst="rect">
            <a:avLst/>
          </a:prstGeom>
          <a:noFill/>
          <a:ln/>
        </p:spPr>
        <p:txBody>
          <a:bodyPr wrap="square" lIns="0" tIns="0" rIns="0" bIns="0" rtlCol="0" anchor="t"/>
          <a:lstStyle/>
          <a:p>
            <a:pPr marL="0" indent="0" algn="l">
              <a:buNone/>
            </a:pPr>
            <a:r>
              <a:rPr lang="en-US" sz="1100" dirty="0">
                <a:solidFill>
                  <a:srgbClr val="3A4A6B"/>
                </a:solidFill>
                <a:latin typeface="Calibri" pitchFamily="34" charset="0"/>
                <a:ea typeface="Calibri" pitchFamily="34" charset="-122"/>
                <a:cs typeface="Calibri" pitchFamily="34" charset="-120"/>
              </a:rPr>
              <a:t>Post-deployment monitoring active, with documented rollback plan ready to execute if needed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Text 1"/>
          <p:cNvSpPr/>
          <p:nvPr/>
        </p:nvSpPr>
        <p:spPr>
          <a:xfrm>
            <a:off x="347472" y="219456"/>
            <a:ext cx="8595360" cy="566928"/>
          </a:xfrm>
          <a:prstGeom prst="rect">
            <a:avLst/>
          </a:prstGeom>
          <a:noFill/>
          <a:ln/>
        </p:spPr>
        <p:txBody>
          <a:bodyPr wrap="square" lIns="0" tIns="0" rIns="0" bIns="0" rtlCol="0" anchor="ctr"/>
          <a:lstStyle/>
          <a:p>
            <a:pPr marL="0" indent="0" algn="l">
              <a:buNone/>
            </a:pPr>
            <a:r>
              <a:rPr lang="en-US" sz="2800" b="1" dirty="0">
                <a:solidFill>
                  <a:srgbClr val="1A2040"/>
                </a:solidFill>
                <a:latin typeface="Calibri" pitchFamily="34" charset="0"/>
                <a:ea typeface="Calibri" pitchFamily="34" charset="-122"/>
                <a:cs typeface="Calibri" pitchFamily="34" charset="-120"/>
              </a:rPr>
              <a:t>Risk vs. Stability: Finding the Balance</a:t>
            </a:r>
            <a:endParaRPr lang="en-US" sz="2800" dirty="0"/>
          </a:p>
        </p:txBody>
      </p:sp>
      <p:sp>
        <p:nvSpPr>
          <p:cNvPr id="4" name="Text 2"/>
          <p:cNvSpPr/>
          <p:nvPr/>
        </p:nvSpPr>
        <p:spPr>
          <a:xfrm>
            <a:off x="347472" y="795528"/>
            <a:ext cx="8595360" cy="274320"/>
          </a:xfrm>
          <a:prstGeom prst="rect">
            <a:avLst/>
          </a:prstGeom>
          <a:noFill/>
          <a:ln/>
        </p:spPr>
        <p:txBody>
          <a:bodyPr wrap="square" lIns="0" tIns="0" rIns="0" bIns="0" rtlCol="0" anchor="t"/>
          <a:lstStyle/>
          <a:p>
            <a:pPr marL="0" indent="0" algn="l">
              <a:buNone/>
            </a:pPr>
            <a:r>
              <a:rPr lang="en-US" sz="1300" dirty="0">
                <a:solidFill>
                  <a:srgbClr val="5F6B7C"/>
                </a:solidFill>
                <a:latin typeface="Calibri" pitchFamily="34" charset="0"/>
                <a:ea typeface="Calibri" pitchFamily="34" charset="-122"/>
                <a:cs typeface="Calibri" pitchFamily="34" charset="-120"/>
              </a:rPr>
              <a:t>The case for a tiered model</a:t>
            </a:r>
            <a:endParaRPr lang="en-US" sz="1300" dirty="0"/>
          </a:p>
        </p:txBody>
      </p:sp>
      <p:sp>
        <p:nvSpPr>
          <p:cNvPr id="5" name="Shape 3"/>
          <p:cNvSpPr/>
          <p:nvPr/>
        </p:nvSpPr>
        <p:spPr>
          <a:xfrm>
            <a:off x="347472" y="1078992"/>
            <a:ext cx="8430768" cy="36576"/>
          </a:xfrm>
          <a:prstGeom prst="rect">
            <a:avLst/>
          </a:prstGeom>
          <a:solidFill>
            <a:srgbClr val="D6E4F7"/>
          </a:solidFill>
          <a:ln w="12700">
            <a:solidFill>
              <a:srgbClr val="D6E4F7"/>
            </a:solidFill>
            <a:prstDash val="solid"/>
          </a:ln>
        </p:spPr>
        <p:txBody>
          <a:bodyPr/>
          <a:lstStyle/>
          <a:p>
            <a:endParaRPr lang="en-US"/>
          </a:p>
        </p:txBody>
      </p:sp>
      <p:sp>
        <p:nvSpPr>
          <p:cNvPr id="6" name="Shape 4"/>
          <p:cNvSpPr/>
          <p:nvPr/>
        </p:nvSpPr>
        <p:spPr>
          <a:xfrm>
            <a:off x="347472" y="1298448"/>
            <a:ext cx="2724912" cy="3520440"/>
          </a:xfrm>
          <a:prstGeom prst="rect">
            <a:avLst/>
          </a:prstGeom>
          <a:solidFill>
            <a:srgbClr val="FAEAEA"/>
          </a:solidFill>
          <a:ln w="12700">
            <a:solidFill>
              <a:srgbClr val="9B2335"/>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47472" y="1298448"/>
            <a:ext cx="2724912" cy="502920"/>
          </a:xfrm>
          <a:prstGeom prst="rect">
            <a:avLst/>
          </a:prstGeom>
          <a:solidFill>
            <a:srgbClr val="9B2335"/>
          </a:solidFill>
          <a:ln w="12700">
            <a:solidFill>
              <a:srgbClr val="9B2335"/>
            </a:solidFill>
            <a:prstDash val="solid"/>
          </a:ln>
        </p:spPr>
        <p:txBody>
          <a:bodyPr/>
          <a:lstStyle/>
          <a:p>
            <a:endParaRPr lang="en-US"/>
          </a:p>
        </p:txBody>
      </p:sp>
      <p:sp>
        <p:nvSpPr>
          <p:cNvPr id="8" name="Text 6"/>
          <p:cNvSpPr/>
          <p:nvPr/>
        </p:nvSpPr>
        <p:spPr>
          <a:xfrm>
            <a:off x="484632" y="1353312"/>
            <a:ext cx="24688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Security Only</a:t>
            </a:r>
            <a:endParaRPr lang="en-US" sz="1400" dirty="0"/>
          </a:p>
        </p:txBody>
      </p:sp>
      <p:sp>
        <p:nvSpPr>
          <p:cNvPr id="9" name="Text 7"/>
          <p:cNvSpPr/>
          <p:nvPr/>
        </p:nvSpPr>
        <p:spPr>
          <a:xfrm>
            <a:off x="484632" y="1847088"/>
            <a:ext cx="2468880" cy="256032"/>
          </a:xfrm>
          <a:prstGeom prst="rect">
            <a:avLst/>
          </a:prstGeom>
          <a:noFill/>
          <a:ln/>
        </p:spPr>
        <p:txBody>
          <a:bodyPr wrap="square" lIns="0" tIns="0" rIns="0" bIns="0" rtlCol="0" anchor="ctr"/>
          <a:lstStyle/>
          <a:p>
            <a:pPr marL="0" indent="0" algn="ctr">
              <a:buNone/>
            </a:pPr>
            <a:r>
              <a:rPr lang="en-US" sz="1100" i="1" dirty="0">
                <a:solidFill>
                  <a:srgbClr val="9B2335"/>
                </a:solidFill>
                <a:latin typeface="Calibri" pitchFamily="34" charset="0"/>
                <a:ea typeface="Calibri" pitchFamily="34" charset="-122"/>
                <a:cs typeface="Calibri" pitchFamily="34" charset="-120"/>
              </a:rPr>
              <a:t>Apply everything</a:t>
            </a:r>
            <a:endParaRPr lang="en-US" sz="1100" dirty="0"/>
          </a:p>
        </p:txBody>
      </p:sp>
      <p:sp>
        <p:nvSpPr>
          <p:cNvPr id="10" name="Text 8"/>
          <p:cNvSpPr/>
          <p:nvPr/>
        </p:nvSpPr>
        <p:spPr>
          <a:xfrm>
            <a:off x="512064" y="2212848"/>
            <a:ext cx="2377440" cy="2011680"/>
          </a:xfrm>
          <a:prstGeom prst="rect">
            <a:avLst/>
          </a:prstGeom>
          <a:noFill/>
          <a:ln/>
        </p:spPr>
        <p:txBody>
          <a:bodyPr wrap="square" lIns="0" tIns="0" rIns="0" bIns="0" rtlCol="0" anchor="t"/>
          <a:lstStyle/>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High compliance score</a:t>
            </a:r>
            <a:endParaRPr lang="en-US" sz="1200" dirty="0"/>
          </a:p>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Maximum control coverage</a:t>
            </a:r>
            <a:endParaRPr lang="en-US" sz="1200" dirty="0"/>
          </a:p>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Remote access may break</a:t>
            </a:r>
            <a:endParaRPr lang="en-US" sz="1200" dirty="0"/>
          </a:p>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Support tools may fail</a:t>
            </a:r>
            <a:endParaRPr lang="en-US" sz="1200" dirty="0"/>
          </a:p>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Rollback risk is high</a:t>
            </a:r>
            <a:endParaRPr lang="en-US" sz="1200" dirty="0"/>
          </a:p>
        </p:txBody>
      </p:sp>
      <p:sp>
        <p:nvSpPr>
          <p:cNvPr id="11" name="Shape 9"/>
          <p:cNvSpPr/>
          <p:nvPr/>
        </p:nvSpPr>
        <p:spPr>
          <a:xfrm>
            <a:off x="484632" y="4325112"/>
            <a:ext cx="2468880" cy="347472"/>
          </a:xfrm>
          <a:prstGeom prst="rect">
            <a:avLst/>
          </a:prstGeom>
          <a:solidFill>
            <a:srgbClr val="9B2335"/>
          </a:solidFill>
          <a:ln w="19050">
            <a:solidFill>
              <a:srgbClr val="9B2335"/>
            </a:solidFill>
            <a:prstDash val="solid"/>
          </a:ln>
        </p:spPr>
        <p:txBody>
          <a:bodyPr/>
          <a:lstStyle/>
          <a:p>
            <a:endParaRPr lang="en-US"/>
          </a:p>
        </p:txBody>
      </p:sp>
      <p:sp>
        <p:nvSpPr>
          <p:cNvPr id="12" name="Text 10"/>
          <p:cNvSpPr/>
          <p:nvPr/>
        </p:nvSpPr>
        <p:spPr>
          <a:xfrm>
            <a:off x="484632" y="4325112"/>
            <a:ext cx="24688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Risk of Instability</a:t>
            </a:r>
            <a:endParaRPr lang="en-US" sz="1100" dirty="0"/>
          </a:p>
        </p:txBody>
      </p:sp>
      <p:sp>
        <p:nvSpPr>
          <p:cNvPr id="13" name="Shape 11"/>
          <p:cNvSpPr/>
          <p:nvPr/>
        </p:nvSpPr>
        <p:spPr>
          <a:xfrm>
            <a:off x="3291840" y="1170432"/>
            <a:ext cx="2724912" cy="3749040"/>
          </a:xfrm>
          <a:prstGeom prst="rect">
            <a:avLst/>
          </a:prstGeom>
          <a:solidFill>
            <a:srgbClr val="1A2B5E"/>
          </a:solidFill>
          <a:ln w="31750">
            <a:solidFill>
              <a:srgbClr val="1B7A4C"/>
            </a:solidFill>
            <a:prstDash val="solid"/>
          </a:ln>
          <a:effectLst>
            <a:outerShdw blurRad="203200" dist="63500" dir="8100000" algn="bl" rotWithShape="0">
              <a:srgbClr val="000000">
                <a:alpha val="22000"/>
              </a:srgbClr>
            </a:outerShdw>
          </a:effectLst>
        </p:spPr>
        <p:txBody>
          <a:bodyPr/>
          <a:lstStyle/>
          <a:p>
            <a:endParaRPr lang="en-US"/>
          </a:p>
        </p:txBody>
      </p:sp>
      <p:sp>
        <p:nvSpPr>
          <p:cNvPr id="14" name="Shape 12"/>
          <p:cNvSpPr/>
          <p:nvPr/>
        </p:nvSpPr>
        <p:spPr>
          <a:xfrm>
            <a:off x="3291840" y="1170432"/>
            <a:ext cx="2724912" cy="502920"/>
          </a:xfrm>
          <a:prstGeom prst="rect">
            <a:avLst/>
          </a:prstGeom>
          <a:solidFill>
            <a:srgbClr val="0B7A8C"/>
          </a:solidFill>
          <a:ln w="12700">
            <a:solidFill>
              <a:srgbClr val="0B7A8C"/>
            </a:solidFill>
            <a:prstDash val="solid"/>
          </a:ln>
        </p:spPr>
        <p:txBody>
          <a:bodyPr/>
          <a:lstStyle/>
          <a:p>
            <a:endParaRPr lang="en-US"/>
          </a:p>
        </p:txBody>
      </p:sp>
      <p:sp>
        <p:nvSpPr>
          <p:cNvPr id="15" name="Text 13"/>
          <p:cNvSpPr/>
          <p:nvPr/>
        </p:nvSpPr>
        <p:spPr>
          <a:xfrm>
            <a:off x="3429000" y="1225296"/>
            <a:ext cx="24688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Balanced</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Tiered Model</a:t>
            </a:r>
            <a:endParaRPr lang="en-US" sz="1400" dirty="0"/>
          </a:p>
        </p:txBody>
      </p:sp>
      <p:sp>
        <p:nvSpPr>
          <p:cNvPr id="16" name="Text 14"/>
          <p:cNvSpPr/>
          <p:nvPr/>
        </p:nvSpPr>
        <p:spPr>
          <a:xfrm>
            <a:off x="3429000" y="1719072"/>
            <a:ext cx="2468880" cy="256032"/>
          </a:xfrm>
          <a:prstGeom prst="rect">
            <a:avLst/>
          </a:prstGeom>
          <a:noFill/>
          <a:ln/>
        </p:spPr>
        <p:txBody>
          <a:bodyPr wrap="square" lIns="0" tIns="0" rIns="0" bIns="0" rtlCol="0" anchor="ctr"/>
          <a:lstStyle/>
          <a:p>
            <a:pPr marL="0" indent="0" algn="ctr">
              <a:buNone/>
            </a:pPr>
            <a:r>
              <a:rPr lang="en-US" sz="1100" i="1" dirty="0">
                <a:solidFill>
                  <a:srgbClr val="A0D4C8"/>
                </a:solidFill>
                <a:latin typeface="Calibri" pitchFamily="34" charset="0"/>
                <a:ea typeface="Calibri" pitchFamily="34" charset="-122"/>
                <a:cs typeface="Calibri" pitchFamily="34" charset="-120"/>
              </a:rPr>
              <a:t>Structured approach</a:t>
            </a:r>
            <a:endParaRPr lang="en-US" sz="1100" dirty="0"/>
          </a:p>
        </p:txBody>
      </p:sp>
      <p:sp>
        <p:nvSpPr>
          <p:cNvPr id="17" name="Text 15"/>
          <p:cNvSpPr/>
          <p:nvPr/>
        </p:nvSpPr>
        <p:spPr>
          <a:xfrm>
            <a:off x="3456432" y="2084832"/>
            <a:ext cx="2377440" cy="2011680"/>
          </a:xfrm>
          <a:prstGeom prst="rect">
            <a:avLst/>
          </a:prstGeom>
          <a:noFill/>
          <a:ln/>
        </p:spPr>
        <p:txBody>
          <a:bodyPr wrap="square" lIns="0" tIns="0" rIns="0" bIns="0" rtlCol="0" anchor="t"/>
          <a:lstStyle/>
          <a:p>
            <a:pPr marL="342900" indent="-342900" algn="l">
              <a:spcAft>
                <a:spcPts val="600"/>
              </a:spcAft>
              <a:buSzPct val="100000"/>
              <a:buChar char="•"/>
            </a:pPr>
            <a:r>
              <a:rPr lang="en-US" sz="1200" dirty="0">
                <a:solidFill>
                  <a:srgbClr val="D0E8F0"/>
                </a:solidFill>
                <a:latin typeface="Calibri" pitchFamily="34" charset="0"/>
                <a:ea typeface="Calibri" pitchFamily="34" charset="-122"/>
                <a:cs typeface="Calibri" pitchFamily="34" charset="-120"/>
              </a:rPr>
              <a:t>High-value controls applied</a:t>
            </a:r>
            <a:endParaRPr lang="en-US" sz="1200" dirty="0"/>
          </a:p>
          <a:p>
            <a:pPr marL="342900" indent="-342900" algn="l">
              <a:spcAft>
                <a:spcPts val="600"/>
              </a:spcAft>
              <a:buSzPct val="100000"/>
              <a:buChar char="•"/>
            </a:pPr>
            <a:r>
              <a:rPr lang="en-US" sz="1200" dirty="0">
                <a:solidFill>
                  <a:srgbClr val="D0E8F0"/>
                </a:solidFill>
                <a:latin typeface="Calibri" pitchFamily="34" charset="0"/>
                <a:ea typeface="Calibri" pitchFamily="34" charset="-122"/>
                <a:cs typeface="Calibri" pitchFamily="34" charset="-120"/>
              </a:rPr>
              <a:t>Stability preserved</a:t>
            </a:r>
            <a:endParaRPr lang="en-US" sz="1200" dirty="0"/>
          </a:p>
          <a:p>
            <a:pPr marL="342900" indent="-342900" algn="l">
              <a:spcAft>
                <a:spcPts val="600"/>
              </a:spcAft>
              <a:buSzPct val="100000"/>
              <a:buChar char="•"/>
            </a:pPr>
            <a:r>
              <a:rPr lang="en-US" sz="1200" dirty="0">
                <a:solidFill>
                  <a:srgbClr val="D0E8F0"/>
                </a:solidFill>
                <a:latin typeface="Calibri" pitchFamily="34" charset="0"/>
                <a:ea typeface="Calibri" pitchFamily="34" charset="-122"/>
                <a:cs typeface="Calibri" pitchFamily="34" charset="-120"/>
              </a:rPr>
              <a:t>Operations unaffected</a:t>
            </a:r>
            <a:endParaRPr lang="en-US" sz="1200" dirty="0"/>
          </a:p>
          <a:p>
            <a:pPr marL="342900" indent="-342900" algn="l">
              <a:spcAft>
                <a:spcPts val="600"/>
              </a:spcAft>
              <a:buSzPct val="100000"/>
              <a:buChar char="•"/>
            </a:pPr>
            <a:r>
              <a:rPr lang="en-US" sz="1200" dirty="0">
                <a:solidFill>
                  <a:srgbClr val="D0E8F0"/>
                </a:solidFill>
                <a:latin typeface="Calibri" pitchFamily="34" charset="0"/>
                <a:ea typeface="Calibri" pitchFamily="34" charset="-122"/>
                <a:cs typeface="Calibri" pitchFamily="34" charset="-120"/>
              </a:rPr>
              <a:t>Rollback options maintained</a:t>
            </a:r>
            <a:endParaRPr lang="en-US" sz="1200" dirty="0"/>
          </a:p>
          <a:p>
            <a:pPr marL="342900" indent="-342900" algn="l">
              <a:spcAft>
                <a:spcPts val="600"/>
              </a:spcAft>
              <a:buSzPct val="100000"/>
              <a:buChar char="•"/>
            </a:pPr>
            <a:r>
              <a:rPr lang="en-US" sz="1200" dirty="0">
                <a:solidFill>
                  <a:srgbClr val="D0E8F0"/>
                </a:solidFill>
                <a:latin typeface="Calibri" pitchFamily="34" charset="0"/>
                <a:ea typeface="Calibri" pitchFamily="34" charset="-122"/>
                <a:cs typeface="Calibri" pitchFamily="34" charset="-120"/>
              </a:rPr>
              <a:t>Leadership aligned</a:t>
            </a:r>
            <a:endParaRPr lang="en-US" sz="1200" dirty="0"/>
          </a:p>
        </p:txBody>
      </p:sp>
      <p:sp>
        <p:nvSpPr>
          <p:cNvPr id="18" name="Shape 16"/>
          <p:cNvSpPr/>
          <p:nvPr/>
        </p:nvSpPr>
        <p:spPr>
          <a:xfrm>
            <a:off x="3429000" y="4425696"/>
            <a:ext cx="2468880" cy="347472"/>
          </a:xfrm>
          <a:prstGeom prst="rect">
            <a:avLst/>
          </a:prstGeom>
          <a:solidFill>
            <a:srgbClr val="0B7A8C"/>
          </a:solidFill>
          <a:ln w="19050">
            <a:solidFill>
              <a:srgbClr val="1B7A4C"/>
            </a:solidFill>
            <a:prstDash val="solid"/>
          </a:ln>
        </p:spPr>
        <p:txBody>
          <a:bodyPr/>
          <a:lstStyle/>
          <a:p>
            <a:endParaRPr lang="en-US"/>
          </a:p>
        </p:txBody>
      </p:sp>
      <p:sp>
        <p:nvSpPr>
          <p:cNvPr id="19" name="Text 17"/>
          <p:cNvSpPr/>
          <p:nvPr/>
        </p:nvSpPr>
        <p:spPr>
          <a:xfrm>
            <a:off x="3429000" y="4425696"/>
            <a:ext cx="24688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Secure &amp; Operationally Stable</a:t>
            </a:r>
            <a:endParaRPr lang="en-US" sz="1100" dirty="0"/>
          </a:p>
        </p:txBody>
      </p:sp>
      <p:sp>
        <p:nvSpPr>
          <p:cNvPr id="20" name="Shape 18"/>
          <p:cNvSpPr/>
          <p:nvPr/>
        </p:nvSpPr>
        <p:spPr>
          <a:xfrm>
            <a:off x="6236208" y="1298448"/>
            <a:ext cx="2724912" cy="3520440"/>
          </a:xfrm>
          <a:prstGeom prst="rect">
            <a:avLst/>
          </a:prstGeom>
          <a:solidFill>
            <a:srgbClr val="FFF4E0"/>
          </a:solidFill>
          <a:ln w="12700">
            <a:solidFill>
              <a:srgbClr val="B86E00"/>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6236208" y="1298448"/>
            <a:ext cx="2724912" cy="502920"/>
          </a:xfrm>
          <a:prstGeom prst="rect">
            <a:avLst/>
          </a:prstGeom>
          <a:solidFill>
            <a:srgbClr val="B86E00"/>
          </a:solidFill>
          <a:ln w="12700">
            <a:solidFill>
              <a:srgbClr val="B86E00"/>
            </a:solidFill>
            <a:prstDash val="solid"/>
          </a:ln>
        </p:spPr>
        <p:txBody>
          <a:bodyPr/>
          <a:lstStyle/>
          <a:p>
            <a:endParaRPr lang="en-US"/>
          </a:p>
        </p:txBody>
      </p:sp>
      <p:sp>
        <p:nvSpPr>
          <p:cNvPr id="22" name="Text 20"/>
          <p:cNvSpPr/>
          <p:nvPr/>
        </p:nvSpPr>
        <p:spPr>
          <a:xfrm>
            <a:off x="6373368" y="1353312"/>
            <a:ext cx="24688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Stability Only</a:t>
            </a:r>
            <a:endParaRPr lang="en-US" sz="1400" dirty="0"/>
          </a:p>
        </p:txBody>
      </p:sp>
      <p:sp>
        <p:nvSpPr>
          <p:cNvPr id="23" name="Text 21"/>
          <p:cNvSpPr/>
          <p:nvPr/>
        </p:nvSpPr>
        <p:spPr>
          <a:xfrm>
            <a:off x="6373368" y="1847088"/>
            <a:ext cx="2468880" cy="256032"/>
          </a:xfrm>
          <a:prstGeom prst="rect">
            <a:avLst/>
          </a:prstGeom>
          <a:noFill/>
          <a:ln/>
        </p:spPr>
        <p:txBody>
          <a:bodyPr wrap="square" lIns="0" tIns="0" rIns="0" bIns="0" rtlCol="0" anchor="ctr"/>
          <a:lstStyle/>
          <a:p>
            <a:pPr marL="0" indent="0" algn="ctr">
              <a:buNone/>
            </a:pPr>
            <a:r>
              <a:rPr lang="en-US" sz="1100" i="1" dirty="0">
                <a:solidFill>
                  <a:srgbClr val="B86E00"/>
                </a:solidFill>
                <a:latin typeface="Calibri" pitchFamily="34" charset="0"/>
                <a:ea typeface="Calibri" pitchFamily="34" charset="-122"/>
                <a:cs typeface="Calibri" pitchFamily="34" charset="-120"/>
              </a:rPr>
              <a:t>Apply nothing</a:t>
            </a:r>
            <a:endParaRPr lang="en-US" sz="1100" dirty="0"/>
          </a:p>
        </p:txBody>
      </p:sp>
      <p:sp>
        <p:nvSpPr>
          <p:cNvPr id="24" name="Text 22"/>
          <p:cNvSpPr/>
          <p:nvPr/>
        </p:nvSpPr>
        <p:spPr>
          <a:xfrm>
            <a:off x="6400800" y="2212848"/>
            <a:ext cx="2377440" cy="2011680"/>
          </a:xfrm>
          <a:prstGeom prst="rect">
            <a:avLst/>
          </a:prstGeom>
          <a:noFill/>
          <a:ln/>
        </p:spPr>
        <p:txBody>
          <a:bodyPr wrap="square" lIns="0" tIns="0" rIns="0" bIns="0" rtlCol="0" anchor="t"/>
          <a:lstStyle/>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No disruption to operations</a:t>
            </a:r>
            <a:endParaRPr lang="en-US" sz="1200" dirty="0"/>
          </a:p>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No improvement in posture</a:t>
            </a:r>
            <a:endParaRPr lang="en-US" sz="1200" dirty="0"/>
          </a:p>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Audit findings remain open</a:t>
            </a:r>
            <a:endParaRPr lang="en-US" sz="1200" dirty="0"/>
          </a:p>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Regulatory exposure persists</a:t>
            </a:r>
            <a:endParaRPr lang="en-US" sz="1200" dirty="0"/>
          </a:p>
          <a:p>
            <a:pPr marL="342900" indent="-342900" algn="l">
              <a:spcAft>
                <a:spcPts val="600"/>
              </a:spcAft>
              <a:buSzPct val="100000"/>
              <a:buChar char="•"/>
            </a:pPr>
            <a:r>
              <a:rPr lang="en-US" sz="1200" dirty="0">
                <a:solidFill>
                  <a:srgbClr val="1A2040"/>
                </a:solidFill>
                <a:latin typeface="Calibri" pitchFamily="34" charset="0"/>
                <a:ea typeface="Calibri" pitchFamily="34" charset="-122"/>
                <a:cs typeface="Calibri" pitchFamily="34" charset="-120"/>
              </a:rPr>
              <a:t>Security gaps unaddressed</a:t>
            </a:r>
            <a:endParaRPr lang="en-US" sz="1200" dirty="0"/>
          </a:p>
        </p:txBody>
      </p:sp>
      <p:sp>
        <p:nvSpPr>
          <p:cNvPr id="25" name="Shape 23"/>
          <p:cNvSpPr/>
          <p:nvPr/>
        </p:nvSpPr>
        <p:spPr>
          <a:xfrm>
            <a:off x="6373368" y="4325112"/>
            <a:ext cx="2468880" cy="347472"/>
          </a:xfrm>
          <a:prstGeom prst="rect">
            <a:avLst/>
          </a:prstGeom>
          <a:solidFill>
            <a:srgbClr val="B86E00"/>
          </a:solidFill>
          <a:ln w="19050">
            <a:solidFill>
              <a:srgbClr val="B86E00"/>
            </a:solidFill>
            <a:prstDash val="solid"/>
          </a:ln>
        </p:spPr>
        <p:txBody>
          <a:bodyPr/>
          <a:lstStyle/>
          <a:p>
            <a:endParaRPr lang="en-US"/>
          </a:p>
        </p:txBody>
      </p:sp>
      <p:sp>
        <p:nvSpPr>
          <p:cNvPr id="26" name="Text 24"/>
          <p:cNvSpPr/>
          <p:nvPr/>
        </p:nvSpPr>
        <p:spPr>
          <a:xfrm>
            <a:off x="6373368" y="4325112"/>
            <a:ext cx="24688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Risk Exposure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5029200" y="0"/>
            <a:ext cx="164592" cy="5143500"/>
          </a:xfrm>
          <a:prstGeom prst="rect">
            <a:avLst/>
          </a:prstGeom>
          <a:solidFill>
            <a:srgbClr val="0B7A8C"/>
          </a:solidFill>
          <a:ln w="12700">
            <a:solidFill>
              <a:srgbClr val="0B7A8C"/>
            </a:solidFill>
            <a:prstDash val="solid"/>
          </a:ln>
        </p:spPr>
        <p:txBody>
          <a:bodyPr/>
          <a:lstStyle/>
          <a:p>
            <a:endParaRPr lang="en-US"/>
          </a:p>
        </p:txBody>
      </p:sp>
      <p:sp>
        <p:nvSpPr>
          <p:cNvPr id="3" name="Shape 1"/>
          <p:cNvSpPr/>
          <p:nvPr/>
        </p:nvSpPr>
        <p:spPr>
          <a:xfrm>
            <a:off x="5193792" y="0"/>
            <a:ext cx="3950208" cy="5143500"/>
          </a:xfrm>
          <a:prstGeom prst="rect">
            <a:avLst/>
          </a:prstGeom>
          <a:solidFill>
            <a:srgbClr val="2A3F7E"/>
          </a:solidFill>
          <a:ln w="12700">
            <a:solidFill>
              <a:srgbClr val="2A3F7E"/>
            </a:solidFill>
            <a:prstDash val="solid"/>
          </a:ln>
        </p:spPr>
        <p:txBody>
          <a:bodyPr/>
          <a:lstStyle/>
          <a:p>
            <a:endParaRPr lang="en-US"/>
          </a:p>
        </p:txBody>
      </p:sp>
      <p:sp>
        <p:nvSpPr>
          <p:cNvPr id="4" name="Text 2"/>
          <p:cNvSpPr/>
          <p:nvPr/>
        </p:nvSpPr>
        <p:spPr>
          <a:xfrm>
            <a:off x="457200" y="566928"/>
            <a:ext cx="4297680" cy="475488"/>
          </a:xfrm>
          <a:prstGeom prst="rect">
            <a:avLst/>
          </a:prstGeom>
          <a:noFill/>
          <a:ln/>
        </p:spPr>
        <p:txBody>
          <a:bodyPr wrap="square" lIns="0" tIns="0" rIns="0" bIns="0" rtlCol="0" anchor="ctr"/>
          <a:lstStyle/>
          <a:p>
            <a:pPr marL="0" indent="0" algn="l">
              <a:buNone/>
            </a:pPr>
            <a:r>
              <a:rPr lang="en-US" sz="2400" b="1" dirty="0">
                <a:solidFill>
                  <a:srgbClr val="12A3BC"/>
                </a:solidFill>
                <a:latin typeface="Calibri" pitchFamily="34" charset="0"/>
                <a:ea typeface="Calibri" pitchFamily="34" charset="-122"/>
                <a:cs typeface="Calibri" pitchFamily="34" charset="-120"/>
              </a:rPr>
              <a:t>Key Takeaways</a:t>
            </a:r>
            <a:endParaRPr lang="en-US" sz="2400" dirty="0"/>
          </a:p>
        </p:txBody>
      </p:sp>
      <p:sp>
        <p:nvSpPr>
          <p:cNvPr id="5" name="Text 3"/>
          <p:cNvSpPr/>
          <p:nvPr/>
        </p:nvSpPr>
        <p:spPr>
          <a:xfrm>
            <a:off x="457200" y="1188720"/>
            <a:ext cx="4297680" cy="2926080"/>
          </a:xfrm>
          <a:prstGeom prst="rect">
            <a:avLst/>
          </a:prstGeom>
          <a:noFill/>
          <a:ln/>
        </p:spPr>
        <p:txBody>
          <a:bodyPr wrap="square" lIns="0" tIns="0" rIns="0" bIns="0" rtlCol="0" anchor="t"/>
          <a:lstStyle/>
          <a:p>
            <a:pPr marL="342900" indent="-342900" algn="l">
              <a:spcAft>
                <a:spcPts val="1000"/>
              </a:spcAft>
              <a:buSzPct val="100000"/>
              <a:buChar char="•"/>
            </a:pPr>
            <a:r>
              <a:rPr lang="en-US" sz="1400" dirty="0">
                <a:solidFill>
                  <a:srgbClr val="C8D8EC"/>
                </a:solidFill>
                <a:latin typeface="Calibri" pitchFamily="34" charset="0"/>
                <a:ea typeface="Calibri" pitchFamily="34" charset="-122"/>
                <a:cs typeface="Calibri" pitchFamily="34" charset="-120"/>
              </a:rPr>
              <a:t>Security must not break daily operations</a:t>
            </a:r>
            <a:endParaRPr lang="en-US" sz="1400" dirty="0"/>
          </a:p>
          <a:p>
            <a:pPr marL="342900" indent="-342900" algn="l">
              <a:spcAft>
                <a:spcPts val="1000"/>
              </a:spcAft>
              <a:buSzPct val="100000"/>
              <a:buChar char="•"/>
            </a:pPr>
            <a:r>
              <a:rPr lang="en-US" sz="1400" b="1" dirty="0">
                <a:solidFill>
                  <a:srgbClr val="12A3BC"/>
                </a:solidFill>
                <a:latin typeface="Calibri" pitchFamily="34" charset="0"/>
                <a:ea typeface="Calibri" pitchFamily="34" charset="-122"/>
                <a:cs typeface="Calibri" pitchFamily="34" charset="-120"/>
              </a:rPr>
              <a:t>Tier 1 — validated and ready for pilot deployment</a:t>
            </a:r>
            <a:endParaRPr lang="en-US" sz="1400" dirty="0"/>
          </a:p>
          <a:p>
            <a:pPr marL="342900" indent="-342900" algn="l">
              <a:spcAft>
                <a:spcPts val="1000"/>
              </a:spcAft>
              <a:buSzPct val="100000"/>
              <a:buChar char="•"/>
            </a:pPr>
            <a:r>
              <a:rPr lang="en-US" sz="1400" dirty="0">
                <a:solidFill>
                  <a:srgbClr val="C8D8EC"/>
                </a:solidFill>
                <a:latin typeface="Calibri" pitchFamily="34" charset="0"/>
                <a:ea typeface="Calibri" pitchFamily="34" charset="-122"/>
                <a:cs typeface="Calibri" pitchFamily="34" charset="-120"/>
              </a:rPr>
              <a:t>Tier 2 — under structured validation, progressing well</a:t>
            </a:r>
            <a:endParaRPr lang="en-US" sz="1400" dirty="0"/>
          </a:p>
          <a:p>
            <a:pPr marL="342900" indent="-342900" algn="l">
              <a:spcAft>
                <a:spcPts val="1000"/>
              </a:spcAft>
              <a:buSzPct val="100000"/>
              <a:buChar char="•"/>
            </a:pPr>
            <a:r>
              <a:rPr lang="en-US" sz="1400" dirty="0">
                <a:solidFill>
                  <a:srgbClr val="C8D8EC"/>
                </a:solidFill>
                <a:latin typeface="Calibri" pitchFamily="34" charset="0"/>
                <a:ea typeface="Calibri" pitchFamily="34" charset="-122"/>
                <a:cs typeface="Calibri" pitchFamily="34" charset="-120"/>
              </a:rPr>
              <a:t>Tier 3 — deferred with documented accepted risk</a:t>
            </a:r>
            <a:endParaRPr lang="en-US" sz="1400" dirty="0"/>
          </a:p>
          <a:p>
            <a:pPr marL="342900" indent="-342900" algn="l">
              <a:spcAft>
                <a:spcPts val="1000"/>
              </a:spcAft>
              <a:buSzPct val="100000"/>
              <a:buChar char="•"/>
            </a:pPr>
            <a:r>
              <a:rPr lang="en-US" sz="1400" b="1" dirty="0">
                <a:solidFill>
                  <a:srgbClr val="12A3BC"/>
                </a:solidFill>
                <a:latin typeface="Calibri" pitchFamily="34" charset="0"/>
                <a:ea typeface="Calibri" pitchFamily="34" charset="-122"/>
                <a:cs typeface="Calibri" pitchFamily="34" charset="-120"/>
              </a:rPr>
              <a:t>Seeking leadership alignment to move forward</a:t>
            </a:r>
            <a:endParaRPr lang="en-US" sz="1400" dirty="0"/>
          </a:p>
        </p:txBody>
      </p:sp>
      <p:sp>
        <p:nvSpPr>
          <p:cNvPr id="6" name="Text 4"/>
          <p:cNvSpPr/>
          <p:nvPr/>
        </p:nvSpPr>
        <p:spPr>
          <a:xfrm>
            <a:off x="457200" y="4224528"/>
            <a:ext cx="4297680" cy="640080"/>
          </a:xfrm>
          <a:prstGeom prst="rect">
            <a:avLst/>
          </a:prstGeom>
          <a:noFill/>
          <a:ln/>
        </p:spPr>
        <p:txBody>
          <a:bodyPr wrap="square" rtlCol="0" anchor="ctr"/>
          <a:lstStyle/>
          <a:p>
            <a:pPr marL="0" indent="0" algn="l">
              <a:buNone/>
            </a:pPr>
            <a:r>
              <a:rPr lang="en-US" sz="1200" i="1" dirty="0">
                <a:solidFill>
                  <a:srgbClr val="8AABCE"/>
                </a:solidFill>
                <a:latin typeface="Calibri" pitchFamily="34" charset="0"/>
                <a:ea typeface="Calibri" pitchFamily="34" charset="-122"/>
                <a:cs typeface="Calibri" pitchFamily="34" charset="-120"/>
              </a:rPr>
              <a:t>Goal: Secure and usable endpoints</a:t>
            </a:r>
            <a:endParaRPr lang="en-US" sz="1200" dirty="0"/>
          </a:p>
          <a:p>
            <a:pPr marL="0" indent="0" algn="l">
              <a:buNone/>
            </a:pPr>
            <a:r>
              <a:rPr lang="en-US" sz="1200" i="1" dirty="0">
                <a:solidFill>
                  <a:srgbClr val="8AABCE"/>
                </a:solidFill>
                <a:latin typeface="Calibri" pitchFamily="34" charset="0"/>
                <a:ea typeface="Calibri" pitchFamily="34" charset="-122"/>
                <a:cs typeface="Calibri" pitchFamily="34" charset="-120"/>
              </a:rPr>
              <a:t>across the Windows 11 25H2 environment.</a:t>
            </a:r>
            <a:endParaRPr lang="en-US" sz="1200" dirty="0"/>
          </a:p>
        </p:txBody>
      </p:sp>
      <p:sp>
        <p:nvSpPr>
          <p:cNvPr id="7" name="Text 5"/>
          <p:cNvSpPr/>
          <p:nvPr/>
        </p:nvSpPr>
        <p:spPr>
          <a:xfrm>
            <a:off x="5394960" y="566928"/>
            <a:ext cx="3566160" cy="475488"/>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Leadership Alignment Needed</a:t>
            </a:r>
            <a:endParaRPr lang="en-US" sz="1800" dirty="0"/>
          </a:p>
        </p:txBody>
      </p:sp>
      <p:sp>
        <p:nvSpPr>
          <p:cNvPr id="8" name="Text 6"/>
          <p:cNvSpPr/>
          <p:nvPr/>
        </p:nvSpPr>
        <p:spPr>
          <a:xfrm>
            <a:off x="5394960" y="1188720"/>
            <a:ext cx="3566160" cy="3200400"/>
          </a:xfrm>
          <a:prstGeom prst="rect">
            <a:avLst/>
          </a:prstGeom>
          <a:noFill/>
          <a:ln/>
        </p:spPr>
        <p:txBody>
          <a:bodyPr wrap="square" lIns="0" tIns="0" rIns="0" bIns="0" rtlCol="0" anchor="t"/>
          <a:lstStyle/>
          <a:p>
            <a:pPr marL="342900" indent="-342900" algn="l">
              <a:spcAft>
                <a:spcPts val="1000"/>
              </a:spcAft>
              <a:buSzPct val="100000"/>
              <a:buFont typeface="+mj-lt"/>
              <a:buAutoNum type="arabicPeriod"/>
            </a:pPr>
            <a:r>
              <a:rPr lang="en-US" sz="1300" b="1" dirty="0">
                <a:solidFill>
                  <a:srgbClr val="FFFFFF"/>
                </a:solidFill>
                <a:latin typeface="Calibri" pitchFamily="34" charset="0"/>
                <a:ea typeface="Calibri" pitchFamily="34" charset="-122"/>
                <a:cs typeface="Calibri" pitchFamily="34" charset="-120"/>
              </a:rPr>
              <a:t>Confirm ownership assignments by team</a:t>
            </a:r>
            <a:endParaRPr lang="en-US" sz="1300" dirty="0"/>
          </a:p>
          <a:p>
            <a:pPr marL="342900" indent="-342900" algn="l">
              <a:spcAft>
                <a:spcPts val="1000"/>
              </a:spcAft>
              <a:buSzPct val="100000"/>
              <a:buFont typeface="+mj-lt"/>
              <a:buAutoNum type="arabicPeriod"/>
            </a:pPr>
            <a:r>
              <a:rPr lang="en-US" sz="1300" b="1" dirty="0">
                <a:solidFill>
                  <a:srgbClr val="FFFFFF"/>
                </a:solidFill>
                <a:latin typeface="Calibri" pitchFamily="34" charset="0"/>
                <a:ea typeface="Calibri" pitchFamily="34" charset="-122"/>
                <a:cs typeface="Calibri" pitchFamily="34" charset="-120"/>
              </a:rPr>
              <a:t>Approve Tier 1 for pilot deployment</a:t>
            </a:r>
            <a:endParaRPr lang="en-US" sz="1300" dirty="0"/>
          </a:p>
          <a:p>
            <a:pPr marL="342900" indent="-342900" algn="l">
              <a:spcAft>
                <a:spcPts val="1000"/>
              </a:spcAft>
              <a:buSzPct val="100000"/>
              <a:buFont typeface="+mj-lt"/>
              <a:buAutoNum type="arabicPeriod"/>
            </a:pPr>
            <a:r>
              <a:rPr lang="en-US" sz="1300" dirty="0">
                <a:solidFill>
                  <a:srgbClr val="FFFFFF"/>
                </a:solidFill>
                <a:latin typeface="Calibri" pitchFamily="34" charset="0"/>
                <a:ea typeface="Calibri" pitchFamily="34" charset="-122"/>
                <a:cs typeface="Calibri" pitchFamily="34" charset="-120"/>
              </a:rPr>
              <a:t>Align on Tier 2 testing timeline</a:t>
            </a:r>
            <a:endParaRPr lang="en-US" sz="1300" dirty="0"/>
          </a:p>
          <a:p>
            <a:pPr marL="342900" indent="-342900" algn="l">
              <a:spcAft>
                <a:spcPts val="1000"/>
              </a:spcAft>
              <a:buSzPct val="100000"/>
              <a:buFont typeface="+mj-lt"/>
              <a:buAutoNum type="arabicPeriod"/>
            </a:pPr>
            <a:r>
              <a:rPr lang="en-US" sz="1300" dirty="0">
                <a:solidFill>
                  <a:srgbClr val="FFFFFF"/>
                </a:solidFill>
                <a:latin typeface="Calibri" pitchFamily="34" charset="0"/>
                <a:ea typeface="Calibri" pitchFamily="34" charset="-122"/>
                <a:cs typeface="Calibri" pitchFamily="34" charset="-120"/>
              </a:rPr>
              <a:t>Formally accept or escalate Tier 3 deferrals</a:t>
            </a:r>
            <a:endParaRPr lang="en-US" sz="1300" dirty="0"/>
          </a:p>
          <a:p>
            <a:pPr marL="342900" indent="-342900" algn="l">
              <a:spcAft>
                <a:spcPts val="1000"/>
              </a:spcAft>
              <a:buSzPct val="100000"/>
              <a:buFont typeface="+mj-lt"/>
              <a:buAutoNum type="arabicPeriod"/>
            </a:pPr>
            <a:r>
              <a:rPr lang="en-US" sz="1300" dirty="0">
                <a:solidFill>
                  <a:srgbClr val="FFFFFF"/>
                </a:solidFill>
                <a:latin typeface="Calibri" pitchFamily="34" charset="0"/>
                <a:ea typeface="Calibri" pitchFamily="34" charset="-122"/>
                <a:cs typeface="Calibri" pitchFamily="34" charset="-120"/>
              </a:rPr>
              <a:t>Identify pilot group and target date</a:t>
            </a:r>
            <a:endParaRPr lang="en-US" sz="1300" dirty="0"/>
          </a:p>
        </p:txBody>
      </p:sp>
      <p:sp>
        <p:nvSpPr>
          <p:cNvPr id="9" name="Text 7"/>
          <p:cNvSpPr/>
          <p:nvPr/>
        </p:nvSpPr>
        <p:spPr>
          <a:xfrm>
            <a:off x="5394960" y="4663440"/>
            <a:ext cx="3566160" cy="310896"/>
          </a:xfrm>
          <a:prstGeom prst="rect">
            <a:avLst/>
          </a:prstGeom>
          <a:noFill/>
          <a:ln/>
        </p:spPr>
        <p:txBody>
          <a:bodyPr wrap="square" lIns="0" tIns="0" rIns="0" bIns="0" rtlCol="0" anchor="ctr"/>
          <a:lstStyle/>
          <a:p>
            <a:pPr marL="0" indent="0" algn="l">
              <a:buNone/>
            </a:pPr>
            <a:r>
              <a:rPr lang="en-US" sz="1200" i="1" dirty="0">
                <a:solidFill>
                  <a:srgbClr val="12A3BC"/>
                </a:solidFill>
                <a:latin typeface="Calibri" pitchFamily="34" charset="0"/>
                <a:ea typeface="Calibri" pitchFamily="34" charset="-122"/>
                <a:cs typeface="Calibri" pitchFamily="34" charset="-120"/>
              </a:rPr>
              <a:t>Questions and discussion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3334</Words>
  <Application>Microsoft Office PowerPoint</Application>
  <PresentationFormat>On-screen Show (16:9)</PresentationFormat>
  <Paragraphs>274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Windows 11 25H2 Hardening Strategy</dc:title>
  <dc:subject>PptxGenJS Presentation</dc:subject>
  <dc:creator>IT Security Team</dc:creator>
  <cp:lastModifiedBy>Kaleab Tessema</cp:lastModifiedBy>
  <cp:revision>3</cp:revision>
  <dcterms:created xsi:type="dcterms:W3CDTF">2026-02-27T01:06:23Z</dcterms:created>
  <dcterms:modified xsi:type="dcterms:W3CDTF">2026-02-27T15:40:49Z</dcterms:modified>
</cp:coreProperties>
</file>